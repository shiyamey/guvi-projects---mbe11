
<file path=[Content_Types].xml><?xml version="1.0" encoding="utf-8"?>
<Types xmlns="http://schemas.openxmlformats.org/package/2006/content-types">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y="5143500" cx="9144000"/>
  <p:notesSz cx="6858000" cy="9144000"/>
  <p:embeddedFontLst>
    <p:embeddedFont>
      <p:font typeface="Nunito"/>
      <p:regular r:id="rId22"/>
      <p:bold r:id="rId23"/>
      <p:italic r:id="rId24"/>
      <p:boldItalic r:id="rId25"/>
    </p:embeddedFont>
    <p:embeddedFont>
      <p:font typeface="Roboto Mono"/>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ACC189B-750C-4CB9-B228-A10D5F725558}">
  <a:tblStyle styleId="{EACC189B-750C-4CB9-B228-A10D5F725558}"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font" Target="fonts/Nunito-regular.fntdata"/><Relationship Id="rId21" Type="http://schemas.openxmlformats.org/officeDocument/2006/relationships/slide" Target="slides/slide15.xml"/><Relationship Id="rId24" Type="http://schemas.openxmlformats.org/officeDocument/2006/relationships/font" Target="fonts/Nunito-italic.fntdata"/><Relationship Id="rId23" Type="http://schemas.openxmlformats.org/officeDocument/2006/relationships/font" Target="fonts/Nunito-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RobotoMono-regular.fntdata"/><Relationship Id="rId25" Type="http://schemas.openxmlformats.org/officeDocument/2006/relationships/font" Target="fonts/Nunito-boldItalic.fntdata"/><Relationship Id="rId28" Type="http://schemas.openxmlformats.org/officeDocument/2006/relationships/font" Target="fonts/RobotoMono-italic.fntdata"/><Relationship Id="rId27" Type="http://schemas.openxmlformats.org/officeDocument/2006/relationships/font" Target="fonts/RobotoMono-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RobotoMono-boldItalic.fntdata"/><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2f3b00638d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2f3b00638d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2f3b00638d7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2f3b00638d7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2f3b00638d7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2f3b00638d7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2f3b00638d7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2f3b00638d7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2f3b00638d7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2f3b00638d7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2f3b00638d7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2f3b00638d7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2f3b00638d7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2f3b00638d7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2f3cc836f80_0_2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2f3cc836f80_0_2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2f3cc836f80_0_2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2f3cc836f80_0_2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2f3cc836f80_0_2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2f3cc836f80_0_2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2f3cc836f80_0_2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2f3cc836f80_0_2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2f3cc836f80_0_3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2f3cc836f80_0_3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2f3cc836f80_0_3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2f3cc836f80_0_3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2f3cc836f80_0_2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2f3cc836f80_0_2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s://www.gofrugal.com/"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s://www.gofrugal.com/restaurant/"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s://www.gofrugal.com/distribution/"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s://www.gofrugal.com/retail/"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s://www.gofrugal.com/" TargetMode="External"/><Relationship Id="rId4" Type="http://schemas.openxmlformats.org/officeDocument/2006/relationships/hyperlink" Target="https://www.gofrugal.com/restaurant/" TargetMode="External"/><Relationship Id="rId5" Type="http://schemas.openxmlformats.org/officeDocument/2006/relationships/hyperlink" Target="https://www.gofrugal.com/retail/" TargetMode="External"/><Relationship Id="rId6" Type="http://schemas.openxmlformats.org/officeDocument/2006/relationships/hyperlink" Target="https://www.gofrugal.com/distribution/"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Clr>
                <a:schemeClr val="dk1"/>
              </a:buClr>
              <a:buSzPts val="1100"/>
              <a:buFont typeface="Arial"/>
              <a:buNone/>
            </a:pPr>
            <a:r>
              <a:rPr lang="en" sz="3800">
                <a:solidFill>
                  <a:srgbClr val="AF7B51"/>
                </a:solidFill>
                <a:latin typeface="Nunito"/>
                <a:ea typeface="Nunito"/>
                <a:cs typeface="Nunito"/>
                <a:sym typeface="Nunito"/>
              </a:rPr>
              <a:t>SEO Project</a:t>
            </a:r>
            <a:endParaRPr sz="3800">
              <a:solidFill>
                <a:srgbClr val="AF7B51"/>
              </a:solidFill>
              <a:latin typeface="Nunito"/>
              <a:ea typeface="Nunito"/>
              <a:cs typeface="Nunito"/>
              <a:sym typeface="Nunito"/>
            </a:endParaRPr>
          </a:p>
          <a:p>
            <a:pPr indent="0" lvl="0" marL="0" rtl="0" algn="ctr">
              <a:lnSpc>
                <a:spcPct val="115000"/>
              </a:lnSpc>
              <a:spcBef>
                <a:spcPts val="2000"/>
              </a:spcBef>
              <a:spcAft>
                <a:spcPts val="600"/>
              </a:spcAft>
              <a:buNone/>
            </a:pPr>
            <a:r>
              <a:rPr b="1" lang="en" sz="2000"/>
              <a:t>Comprehensive SEO Audit &amp; Optimization for Organic Traffic Growth</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2000"/>
              <a:t>Shiyam Sundar S - </a:t>
            </a:r>
            <a:r>
              <a:rPr lang="en" sz="2000"/>
              <a:t>MBE 11</a:t>
            </a:r>
            <a:endParaRPr sz="20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AF7B51"/>
                </a:solidFill>
                <a:latin typeface="Nunito"/>
                <a:ea typeface="Nunito"/>
                <a:cs typeface="Nunito"/>
                <a:sym typeface="Nunito"/>
              </a:rPr>
              <a:t>Company selection</a:t>
            </a:r>
            <a:endParaRPr>
              <a:solidFill>
                <a:srgbClr val="AF7B51"/>
              </a:solidFill>
              <a:latin typeface="Nunito"/>
              <a:ea typeface="Nunito"/>
              <a:cs typeface="Nunito"/>
              <a:sym typeface="Nunito"/>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17500" lvl="0" marL="457200" rtl="0" algn="l">
              <a:lnSpc>
                <a:spcPct val="150000"/>
              </a:lnSpc>
              <a:spcBef>
                <a:spcPts val="0"/>
              </a:spcBef>
              <a:spcAft>
                <a:spcPts val="0"/>
              </a:spcAft>
              <a:buClr>
                <a:srgbClr val="233A44"/>
              </a:buClr>
              <a:buSzPts val="1400"/>
              <a:buFont typeface="Arial"/>
              <a:buChar char="●"/>
            </a:pPr>
            <a:r>
              <a:rPr lang="en" sz="1400">
                <a:solidFill>
                  <a:srgbClr val="233A44"/>
                </a:solidFill>
              </a:rPr>
              <a:t>I selected the company</a:t>
            </a:r>
            <a:r>
              <a:rPr b="1" lang="en" sz="1400">
                <a:solidFill>
                  <a:srgbClr val="233A44"/>
                </a:solidFill>
              </a:rPr>
              <a:t> GOFRUGAL ( </a:t>
            </a:r>
            <a:r>
              <a:rPr b="1" lang="en" sz="1400" u="sng">
                <a:solidFill>
                  <a:schemeClr val="hlink"/>
                </a:solidFill>
                <a:hlinkClick r:id="rId3"/>
              </a:rPr>
              <a:t>https://www.gofrugal.com/</a:t>
            </a:r>
            <a:r>
              <a:rPr b="1" lang="en" sz="1400">
                <a:solidFill>
                  <a:srgbClr val="233A44"/>
                </a:solidFill>
              </a:rPr>
              <a:t> )</a:t>
            </a:r>
            <a:r>
              <a:rPr lang="en" sz="1400">
                <a:solidFill>
                  <a:srgbClr val="233A44"/>
                </a:solidFill>
              </a:rPr>
              <a:t>” for this SEO project.</a:t>
            </a:r>
            <a:endParaRPr sz="1400">
              <a:solidFill>
                <a:srgbClr val="233A44"/>
              </a:solidFill>
            </a:endParaRPr>
          </a:p>
          <a:p>
            <a:pPr indent="0" lvl="0" marL="0" rtl="0" algn="l">
              <a:lnSpc>
                <a:spcPct val="150000"/>
              </a:lnSpc>
              <a:spcBef>
                <a:spcPts val="1200"/>
              </a:spcBef>
              <a:spcAft>
                <a:spcPts val="0"/>
              </a:spcAft>
              <a:buNone/>
            </a:pPr>
            <a:r>
              <a:rPr b="1" lang="en" sz="1400">
                <a:solidFill>
                  <a:srgbClr val="233A44"/>
                </a:solidFill>
              </a:rPr>
              <a:t>About Gofrugal :</a:t>
            </a:r>
            <a:endParaRPr b="1" sz="1400">
              <a:solidFill>
                <a:srgbClr val="233A44"/>
              </a:solidFill>
            </a:endParaRPr>
          </a:p>
          <a:p>
            <a:pPr indent="-317500" lvl="0" marL="457200" rtl="0" algn="l">
              <a:lnSpc>
                <a:spcPct val="150000"/>
              </a:lnSpc>
              <a:spcBef>
                <a:spcPts val="1200"/>
              </a:spcBef>
              <a:spcAft>
                <a:spcPts val="0"/>
              </a:spcAft>
              <a:buClr>
                <a:srgbClr val="233A44"/>
              </a:buClr>
              <a:buSzPts val="1400"/>
              <a:buChar char="●"/>
            </a:pPr>
            <a:r>
              <a:rPr lang="en" sz="1400">
                <a:solidFill>
                  <a:srgbClr val="233A44"/>
                </a:solidFill>
              </a:rPr>
              <a:t>Gofrugal is a digital-first company offering cloud and mobile ERP solutions to Retail, Restaurant and Distribution businesses. Established in 2004, it helps businesses embrace agility and transform digitally to stay competitive in the dynamic market. The company helps businesses grow with minimal staff, the least skills along with 100% accurate and reliable solutions.</a:t>
            </a:r>
            <a:endParaRPr sz="1400">
              <a:solidFill>
                <a:srgbClr val="233A44"/>
              </a:solidFill>
            </a:endParaRPr>
          </a:p>
          <a:p>
            <a:pPr indent="-317500" lvl="0" marL="457200" rtl="0" algn="l">
              <a:lnSpc>
                <a:spcPct val="150000"/>
              </a:lnSpc>
              <a:spcBef>
                <a:spcPts val="0"/>
              </a:spcBef>
              <a:spcAft>
                <a:spcPts val="0"/>
              </a:spcAft>
              <a:buClr>
                <a:srgbClr val="233A44"/>
              </a:buClr>
              <a:buSzPts val="1400"/>
              <a:buChar char="●"/>
            </a:pPr>
            <a:r>
              <a:rPr b="1" lang="en" sz="1400">
                <a:solidFill>
                  <a:srgbClr val="233A44"/>
                </a:solidFill>
              </a:rPr>
              <a:t>Global Presence: </a:t>
            </a:r>
            <a:r>
              <a:rPr lang="en" sz="1400">
                <a:solidFill>
                  <a:srgbClr val="233A44"/>
                </a:solidFill>
              </a:rPr>
              <a:t>More than 30,000 customers across 60+ countries experience simplicity in running their businesses with GOFRUGAL. The company addresses the needs of a wide spectrum of customers from small independent stores to local chains and large enterprises.</a:t>
            </a:r>
            <a:endParaRPr sz="1400">
              <a:solidFill>
                <a:srgbClr val="233A44"/>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AF7B51"/>
                </a:solidFill>
                <a:latin typeface="Nunito"/>
                <a:ea typeface="Nunito"/>
                <a:cs typeface="Nunito"/>
                <a:sym typeface="Nunito"/>
              </a:rPr>
              <a:t>About Company</a:t>
            </a:r>
            <a:endParaRPr>
              <a:solidFill>
                <a:srgbClr val="AF7B51"/>
              </a:solidFill>
              <a:latin typeface="Nunito"/>
              <a:ea typeface="Nunito"/>
              <a:cs typeface="Nunito"/>
              <a:sym typeface="Nunito"/>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400"/>
              <a:t>Their Product and services:</a:t>
            </a:r>
            <a:endParaRPr sz="1400"/>
          </a:p>
          <a:p>
            <a:pPr indent="-311150" lvl="0" marL="457200" rtl="0" algn="l">
              <a:lnSpc>
                <a:spcPct val="115000"/>
              </a:lnSpc>
              <a:spcBef>
                <a:spcPts val="1200"/>
              </a:spcBef>
              <a:spcAft>
                <a:spcPts val="0"/>
              </a:spcAft>
              <a:buClr>
                <a:schemeClr val="dk1"/>
              </a:buClr>
              <a:buSzPts val="1300"/>
              <a:buChar char="●"/>
            </a:pPr>
            <a:r>
              <a:rPr lang="en" sz="1300">
                <a:solidFill>
                  <a:schemeClr val="dk1"/>
                </a:solidFill>
              </a:rPr>
              <a:t>Retail ERP</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 sz="1300">
                <a:solidFill>
                  <a:schemeClr val="dk1"/>
                </a:solidFill>
              </a:rPr>
              <a:t>Restaurant ERP</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 sz="1300">
                <a:solidFill>
                  <a:schemeClr val="dk1"/>
                </a:solidFill>
              </a:rPr>
              <a:t>Distribution ERP</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 sz="1300">
                <a:solidFill>
                  <a:schemeClr val="dk1"/>
                </a:solidFill>
              </a:rPr>
              <a:t>Point of Sale systems for efficient billing and inventory management.</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 sz="1300">
                <a:solidFill>
                  <a:schemeClr val="dk1"/>
                </a:solidFill>
              </a:rPr>
              <a:t>Stock Counting: Tools for accurate inventory management.</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 sz="1300">
                <a:solidFill>
                  <a:schemeClr val="dk1"/>
                </a:solidFill>
              </a:rPr>
              <a:t>Home Delivery Management</a:t>
            </a:r>
            <a:endParaRPr sz="1300">
              <a:solidFill>
                <a:schemeClr val="dk1"/>
              </a:solidFill>
            </a:endParaRPr>
          </a:p>
          <a:p>
            <a:pPr indent="-311150" lvl="0" marL="457200" rtl="0" algn="l">
              <a:spcBef>
                <a:spcPts val="0"/>
              </a:spcBef>
              <a:spcAft>
                <a:spcPts val="0"/>
              </a:spcAft>
              <a:buClr>
                <a:schemeClr val="dk1"/>
              </a:buClr>
              <a:buSzPts val="1300"/>
              <a:buChar char="●"/>
            </a:pPr>
            <a:r>
              <a:rPr lang="en" sz="1300">
                <a:solidFill>
                  <a:schemeClr val="dk1"/>
                </a:solidFill>
              </a:rPr>
              <a:t>B2B Order Management</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 sz="1300">
                <a:solidFill>
                  <a:schemeClr val="dk1"/>
                </a:solidFill>
              </a:rPr>
              <a:t>GoFrugal Cloud</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 sz="1300">
                <a:solidFill>
                  <a:schemeClr val="dk1"/>
                </a:solidFill>
              </a:rPr>
              <a:t>Business Intelligence</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 sz="1300">
                <a:solidFill>
                  <a:schemeClr val="dk1"/>
                </a:solidFill>
              </a:rPr>
              <a:t>Cloud and Mobile ERP Solutions</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 sz="1300">
                <a:solidFill>
                  <a:schemeClr val="dk1"/>
                </a:solidFill>
              </a:rPr>
              <a:t>Integration with various apps and services like e-commerce, accounting, CRM, and more</a:t>
            </a:r>
            <a:endParaRPr sz="13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216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3000">
                <a:solidFill>
                  <a:srgbClr val="AF7B51"/>
                </a:solidFill>
                <a:latin typeface="Nunito"/>
                <a:ea typeface="Nunito"/>
                <a:cs typeface="Nunito"/>
                <a:sym typeface="Nunito"/>
              </a:rPr>
              <a:t>Task 1 - Initial Audit:</a:t>
            </a:r>
            <a:endParaRPr/>
          </a:p>
        </p:txBody>
      </p:sp>
      <p:sp>
        <p:nvSpPr>
          <p:cNvPr id="73" name="Google Shape;73;p16"/>
          <p:cNvSpPr txBox="1"/>
          <p:nvPr>
            <p:ph idx="1" type="body"/>
          </p:nvPr>
        </p:nvSpPr>
        <p:spPr>
          <a:xfrm>
            <a:off x="311700" y="847675"/>
            <a:ext cx="8520600" cy="39171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1300">
                <a:solidFill>
                  <a:schemeClr val="dk1"/>
                </a:solidFill>
              </a:rPr>
              <a:t>Current Performance:</a:t>
            </a:r>
            <a:endParaRPr b="1" sz="1300">
              <a:solidFill>
                <a:schemeClr val="dk1"/>
              </a:solidFill>
            </a:endParaRPr>
          </a:p>
          <a:p>
            <a:pPr indent="-311150" lvl="0" marL="457200" rtl="0" algn="l">
              <a:lnSpc>
                <a:spcPct val="115000"/>
              </a:lnSpc>
              <a:spcBef>
                <a:spcPts val="1200"/>
              </a:spcBef>
              <a:spcAft>
                <a:spcPts val="0"/>
              </a:spcAft>
              <a:buClr>
                <a:schemeClr val="dk1"/>
              </a:buClr>
              <a:buSzPts val="1300"/>
              <a:buChar char="●"/>
            </a:pPr>
            <a:r>
              <a:rPr lang="en" sz="1300">
                <a:solidFill>
                  <a:schemeClr val="dk1"/>
                </a:solidFill>
              </a:rPr>
              <a:t>The mobile performance was good and scored 72%</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 sz="1300">
                <a:solidFill>
                  <a:schemeClr val="dk1"/>
                </a:solidFill>
              </a:rPr>
              <a:t>The desktop performance was also good and scored 88%</a:t>
            </a:r>
            <a:endParaRPr sz="1300">
              <a:solidFill>
                <a:schemeClr val="dk1"/>
              </a:solidFill>
            </a:endParaRPr>
          </a:p>
          <a:p>
            <a:pPr indent="0" lvl="0" marL="0" rtl="0" algn="l">
              <a:lnSpc>
                <a:spcPct val="115000"/>
              </a:lnSpc>
              <a:spcBef>
                <a:spcPts val="1400"/>
              </a:spcBef>
              <a:spcAft>
                <a:spcPts val="0"/>
              </a:spcAft>
              <a:buNone/>
            </a:pPr>
            <a:r>
              <a:rPr b="1" lang="en" sz="1300">
                <a:solidFill>
                  <a:schemeClr val="dk1"/>
                </a:solidFill>
              </a:rPr>
              <a:t>Strengths:</a:t>
            </a:r>
            <a:endParaRPr b="1" sz="1300">
              <a:solidFill>
                <a:schemeClr val="dk1"/>
              </a:solidFill>
            </a:endParaRPr>
          </a:p>
          <a:p>
            <a:pPr indent="-311150" lvl="0" marL="457200" rtl="0" algn="l">
              <a:lnSpc>
                <a:spcPct val="115000"/>
              </a:lnSpc>
              <a:spcBef>
                <a:spcPts val="1400"/>
              </a:spcBef>
              <a:spcAft>
                <a:spcPts val="0"/>
              </a:spcAft>
              <a:buClr>
                <a:schemeClr val="dk1"/>
              </a:buClr>
              <a:buSzPts val="1300"/>
              <a:buChar char="●"/>
            </a:pPr>
            <a:r>
              <a:rPr lang="en" sz="1300">
                <a:solidFill>
                  <a:schemeClr val="dk1"/>
                </a:solidFill>
              </a:rPr>
              <a:t>The SEO title is well-optimized with appropriate keywords.</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 sz="1300">
                <a:solidFill>
                  <a:schemeClr val="dk1"/>
                </a:solidFill>
              </a:rPr>
              <a:t>The page contains a well-structured H1 tag.</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 sz="1300">
                <a:solidFill>
                  <a:schemeClr val="dk1"/>
                </a:solidFill>
              </a:rPr>
              <a:t>Fast server response time (under 0.2 seconds).</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 sz="1300">
                <a:solidFill>
                  <a:schemeClr val="dk1"/>
                </a:solidFill>
              </a:rPr>
              <a:t>The site uses HTTPS, ensuring secure data transfer.</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 sz="1300">
                <a:solidFill>
                  <a:schemeClr val="dk1"/>
                </a:solidFill>
              </a:rPr>
              <a:t>No malware detected by Google Safe Browsing.</a:t>
            </a:r>
            <a:endParaRPr sz="1300">
              <a:solidFill>
                <a:schemeClr val="dk1"/>
              </a:solidFill>
            </a:endParaRPr>
          </a:p>
          <a:p>
            <a:pPr indent="0" lvl="0" marL="0" rtl="0" algn="l">
              <a:lnSpc>
                <a:spcPct val="115000"/>
              </a:lnSpc>
              <a:spcBef>
                <a:spcPts val="1400"/>
              </a:spcBef>
              <a:spcAft>
                <a:spcPts val="0"/>
              </a:spcAft>
              <a:buNone/>
            </a:pPr>
            <a:r>
              <a:rPr b="1" lang="en" sz="1300">
                <a:solidFill>
                  <a:schemeClr val="dk1"/>
                </a:solidFill>
              </a:rPr>
              <a:t>Weaknesses:</a:t>
            </a:r>
            <a:endParaRPr b="1" sz="1300">
              <a:solidFill>
                <a:schemeClr val="dk1"/>
              </a:solidFill>
            </a:endParaRPr>
          </a:p>
          <a:p>
            <a:pPr indent="-311150" lvl="0" marL="457200" rtl="0" algn="l">
              <a:lnSpc>
                <a:spcPct val="115000"/>
              </a:lnSpc>
              <a:spcBef>
                <a:spcPts val="1200"/>
              </a:spcBef>
              <a:spcAft>
                <a:spcPts val="0"/>
              </a:spcAft>
              <a:buClr>
                <a:schemeClr val="dk1"/>
              </a:buClr>
              <a:buSzPts val="1300"/>
              <a:buChar char="●"/>
            </a:pPr>
            <a:r>
              <a:rPr lang="en" sz="1300">
                <a:solidFill>
                  <a:schemeClr val="dk1"/>
                </a:solidFill>
              </a:rPr>
              <a:t>The meta description is too long and should be shortened.</a:t>
            </a:r>
            <a:endParaRPr sz="1300">
              <a:solidFill>
                <a:schemeClr val="dk1"/>
              </a:solidFill>
            </a:endParaRPr>
          </a:p>
          <a:p>
            <a:pPr indent="-311150" lvl="0" marL="457200" rtl="0" algn="l">
              <a:lnSpc>
                <a:spcPct val="115000"/>
              </a:lnSpc>
              <a:spcBef>
                <a:spcPts val="0"/>
              </a:spcBef>
              <a:spcAft>
                <a:spcPts val="0"/>
              </a:spcAft>
              <a:buSzPts val="1300"/>
              <a:buChar char="●"/>
            </a:pPr>
            <a:r>
              <a:rPr lang="en" sz="1300">
                <a:solidFill>
                  <a:schemeClr val="dk1"/>
                </a:solidFill>
              </a:rPr>
              <a:t>Some images lack </a:t>
            </a:r>
            <a:r>
              <a:rPr lang="en" sz="1300">
                <a:solidFill>
                  <a:srgbClr val="188038"/>
                </a:solidFill>
                <a:latin typeface="Roboto Mono"/>
                <a:ea typeface="Roboto Mono"/>
                <a:cs typeface="Roboto Mono"/>
                <a:sym typeface="Roboto Mono"/>
              </a:rPr>
              <a:t>alt</a:t>
            </a:r>
            <a:r>
              <a:rPr lang="en" sz="1300">
                <a:solidFill>
                  <a:schemeClr val="dk1"/>
                </a:solidFill>
              </a:rPr>
              <a:t> attributes.</a:t>
            </a:r>
            <a:endParaRPr sz="13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3000">
                <a:solidFill>
                  <a:srgbClr val="AF7B51"/>
                </a:solidFill>
                <a:latin typeface="Nunito"/>
                <a:ea typeface="Nunito"/>
                <a:cs typeface="Nunito"/>
                <a:sym typeface="Nunito"/>
              </a:rPr>
              <a:t>Task 2 - Keyword Research: </a:t>
            </a:r>
            <a:endParaRPr/>
          </a:p>
        </p:txBody>
      </p:sp>
      <p:graphicFrame>
        <p:nvGraphicFramePr>
          <p:cNvPr id="79" name="Google Shape;79;p17"/>
          <p:cNvGraphicFramePr/>
          <p:nvPr/>
        </p:nvGraphicFramePr>
        <p:xfrm>
          <a:off x="952500" y="1679425"/>
          <a:ext cx="3000000" cy="3000000"/>
        </p:xfrm>
        <a:graphic>
          <a:graphicData uri="http://schemas.openxmlformats.org/drawingml/2006/table">
            <a:tbl>
              <a:tblPr>
                <a:noFill/>
                <a:tableStyleId>{EACC189B-750C-4CB9-B228-A10D5F725558}</a:tableStyleId>
              </a:tblPr>
              <a:tblGrid>
                <a:gridCol w="639700"/>
                <a:gridCol w="4186300"/>
                <a:gridCol w="2413000"/>
              </a:tblGrid>
              <a:tr h="381000">
                <a:tc>
                  <a:txBody>
                    <a:bodyPr/>
                    <a:lstStyle/>
                    <a:p>
                      <a:pPr indent="0" lvl="0" marL="0" rtl="0" algn="l">
                        <a:spcBef>
                          <a:spcPts val="0"/>
                        </a:spcBef>
                        <a:spcAft>
                          <a:spcPts val="0"/>
                        </a:spcAft>
                        <a:buNone/>
                      </a:pPr>
                      <a:r>
                        <a:rPr b="1" lang="en"/>
                        <a:t>S.no</a:t>
                      </a:r>
                      <a:endParaRPr b="1"/>
                    </a:p>
                  </a:txBody>
                  <a:tcPr marT="91425" marB="91425" marR="91425" marL="91425"/>
                </a:tc>
                <a:tc>
                  <a:txBody>
                    <a:bodyPr/>
                    <a:lstStyle/>
                    <a:p>
                      <a:pPr indent="0" lvl="0" marL="0" rtl="0" algn="l">
                        <a:spcBef>
                          <a:spcPts val="0"/>
                        </a:spcBef>
                        <a:spcAft>
                          <a:spcPts val="0"/>
                        </a:spcAft>
                        <a:buNone/>
                      </a:pPr>
                      <a:r>
                        <a:rPr b="1" lang="en"/>
                        <a:t>Keywords</a:t>
                      </a:r>
                      <a:endParaRPr b="1"/>
                    </a:p>
                  </a:txBody>
                  <a:tcPr marT="91425" marB="91425" marR="91425" marL="91425"/>
                </a:tc>
                <a:tc>
                  <a:txBody>
                    <a:bodyPr/>
                    <a:lstStyle/>
                    <a:p>
                      <a:pPr indent="0" lvl="0" marL="0" rtl="0" algn="l">
                        <a:spcBef>
                          <a:spcPts val="0"/>
                        </a:spcBef>
                        <a:spcAft>
                          <a:spcPts val="0"/>
                        </a:spcAft>
                        <a:buNone/>
                      </a:pPr>
                      <a:r>
                        <a:rPr b="1" lang="en"/>
                        <a:t>Search Volume</a:t>
                      </a:r>
                      <a:endParaRPr b="1"/>
                    </a:p>
                  </a:txBody>
                  <a:tcPr marT="91425" marB="91425" marR="91425" marL="91425"/>
                </a:tc>
              </a:tr>
              <a:tr h="381000">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Restaurant management system</a:t>
                      </a:r>
                      <a:endParaRPr/>
                    </a:p>
                  </a:txBody>
                  <a:tcPr marT="91425" marB="91425" marR="91425" marL="91425"/>
                </a:tc>
                <a:tc>
                  <a:txBody>
                    <a:bodyPr/>
                    <a:lstStyle/>
                    <a:p>
                      <a:pPr indent="0" lvl="0" marL="0" rtl="0" algn="l">
                        <a:spcBef>
                          <a:spcPts val="0"/>
                        </a:spcBef>
                        <a:spcAft>
                          <a:spcPts val="0"/>
                        </a:spcAft>
                        <a:buNone/>
                      </a:pPr>
                      <a:r>
                        <a:rPr lang="en"/>
                        <a:t>1K – 10K</a:t>
                      </a:r>
                      <a:endParaRPr/>
                    </a:p>
                  </a:txBody>
                  <a:tcPr marT="91425" marB="91425" marR="91425" marL="91425"/>
                </a:tc>
              </a:tr>
              <a:tr h="381000">
                <a:tc>
                  <a:txBody>
                    <a:bodyPr/>
                    <a:lstStyle/>
                    <a:p>
                      <a:pPr indent="0" lvl="0" marL="0" rtl="0" algn="l">
                        <a:spcBef>
                          <a:spcPts val="0"/>
                        </a:spcBef>
                        <a:spcAft>
                          <a:spcPts val="0"/>
                        </a:spcAft>
                        <a:buNone/>
                      </a:pPr>
                      <a:r>
                        <a:rPr lang="en"/>
                        <a:t>2</a:t>
                      </a:r>
                      <a:endParaRPr/>
                    </a:p>
                  </a:txBody>
                  <a:tcPr marT="91425" marB="91425" marR="91425" marL="91425"/>
                </a:tc>
                <a:tc>
                  <a:txBody>
                    <a:bodyPr/>
                    <a:lstStyle/>
                    <a:p>
                      <a:pPr indent="0" lvl="0" marL="0" rtl="0" algn="l">
                        <a:spcBef>
                          <a:spcPts val="0"/>
                        </a:spcBef>
                        <a:spcAft>
                          <a:spcPts val="0"/>
                        </a:spcAft>
                        <a:buNone/>
                      </a:pPr>
                      <a:r>
                        <a:rPr lang="en"/>
                        <a:t>Distribution management software</a:t>
                      </a:r>
                      <a:endParaRPr/>
                    </a:p>
                  </a:txBody>
                  <a:tcPr marT="91425" marB="91425" marR="91425" marL="91425"/>
                </a:tc>
                <a:tc>
                  <a:txBody>
                    <a:bodyPr/>
                    <a:lstStyle/>
                    <a:p>
                      <a:pPr indent="0" lvl="0" marL="0" rtl="0" algn="l">
                        <a:spcBef>
                          <a:spcPts val="0"/>
                        </a:spcBef>
                        <a:spcAft>
                          <a:spcPts val="0"/>
                        </a:spcAft>
                        <a:buNone/>
                      </a:pPr>
                      <a:r>
                        <a:rPr lang="en"/>
                        <a:t>100 – 1K</a:t>
                      </a:r>
                      <a:endParaRPr/>
                    </a:p>
                  </a:txBody>
                  <a:tcPr marT="91425" marB="91425" marR="91425" marL="91425"/>
                </a:tc>
              </a:tr>
              <a:tr h="381000">
                <a:tc>
                  <a:txBody>
                    <a:bodyPr/>
                    <a:lstStyle/>
                    <a:p>
                      <a:pPr indent="0" lvl="0" marL="0" rtl="0" algn="l">
                        <a:spcBef>
                          <a:spcPts val="0"/>
                        </a:spcBef>
                        <a:spcAft>
                          <a:spcPts val="0"/>
                        </a:spcAft>
                        <a:buNone/>
                      </a:pPr>
                      <a:r>
                        <a:rPr lang="en"/>
                        <a:t>3</a:t>
                      </a:r>
                      <a:endParaRPr/>
                    </a:p>
                  </a:txBody>
                  <a:tcPr marT="91425" marB="91425" marR="91425" marL="91425"/>
                </a:tc>
                <a:tc>
                  <a:txBody>
                    <a:bodyPr/>
                    <a:lstStyle/>
                    <a:p>
                      <a:pPr indent="0" lvl="0" marL="0" rtl="0" algn="l">
                        <a:spcBef>
                          <a:spcPts val="0"/>
                        </a:spcBef>
                        <a:spcAft>
                          <a:spcPts val="0"/>
                        </a:spcAft>
                        <a:buNone/>
                      </a:pPr>
                      <a:r>
                        <a:rPr lang="en"/>
                        <a:t>Retail POS software</a:t>
                      </a:r>
                      <a:endParaRPr/>
                    </a:p>
                  </a:txBody>
                  <a:tcPr marT="91425" marB="91425" marR="91425" marL="91425"/>
                </a:tc>
                <a:tc>
                  <a:txBody>
                    <a:bodyPr/>
                    <a:lstStyle/>
                    <a:p>
                      <a:pPr indent="0" lvl="0" marL="0" rtl="0" algn="l">
                        <a:spcBef>
                          <a:spcPts val="0"/>
                        </a:spcBef>
                        <a:spcAft>
                          <a:spcPts val="0"/>
                        </a:spcAft>
                        <a:buNone/>
                      </a:pPr>
                      <a:r>
                        <a:rPr lang="en"/>
                        <a:t>100 – 1K</a:t>
                      </a:r>
                      <a:endParaRPr/>
                    </a:p>
                  </a:txBody>
                  <a:tcPr marT="91425" marB="91425" marR="91425" marL="91425"/>
                </a:tc>
              </a:tr>
              <a:tr h="381000">
                <a:tc>
                  <a:txBody>
                    <a:bodyPr/>
                    <a:lstStyle/>
                    <a:p>
                      <a:pPr indent="0" lvl="0" marL="0" rtl="0" algn="l">
                        <a:spcBef>
                          <a:spcPts val="0"/>
                        </a:spcBef>
                        <a:spcAft>
                          <a:spcPts val="0"/>
                        </a:spcAft>
                        <a:buNone/>
                      </a:pPr>
                      <a:r>
                        <a:rPr lang="en"/>
                        <a:t>4</a:t>
                      </a:r>
                      <a:endParaRPr/>
                    </a:p>
                  </a:txBody>
                  <a:tcPr marT="91425" marB="91425" marR="91425" marL="91425"/>
                </a:tc>
                <a:tc>
                  <a:txBody>
                    <a:bodyPr/>
                    <a:lstStyle/>
                    <a:p>
                      <a:pPr indent="0" lvl="0" marL="0" rtl="0" algn="l">
                        <a:spcBef>
                          <a:spcPts val="0"/>
                        </a:spcBef>
                        <a:spcAft>
                          <a:spcPts val="0"/>
                        </a:spcAft>
                        <a:buNone/>
                      </a:pPr>
                      <a:r>
                        <a:rPr lang="en"/>
                        <a:t>Point of sale software</a:t>
                      </a:r>
                      <a:endParaRPr/>
                    </a:p>
                  </a:txBody>
                  <a:tcPr marT="91425" marB="91425" marR="91425" marL="91425"/>
                </a:tc>
                <a:tc>
                  <a:txBody>
                    <a:bodyPr/>
                    <a:lstStyle/>
                    <a:p>
                      <a:pPr indent="0" lvl="0" marL="0" rtl="0" algn="l">
                        <a:spcBef>
                          <a:spcPts val="0"/>
                        </a:spcBef>
                        <a:spcAft>
                          <a:spcPts val="0"/>
                        </a:spcAft>
                        <a:buNone/>
                      </a:pPr>
                      <a:r>
                        <a:rPr lang="en"/>
                        <a:t>1K – 10K</a:t>
                      </a:r>
                      <a:endParaRPr/>
                    </a:p>
                  </a:txBody>
                  <a:tcPr marT="91425" marB="91425" marR="91425" marL="91425"/>
                </a:tc>
              </a:tr>
              <a:tr h="381000">
                <a:tc>
                  <a:txBody>
                    <a:bodyPr/>
                    <a:lstStyle/>
                    <a:p>
                      <a:pPr indent="0" lvl="0" marL="0" rtl="0" algn="l">
                        <a:spcBef>
                          <a:spcPts val="0"/>
                        </a:spcBef>
                        <a:spcAft>
                          <a:spcPts val="0"/>
                        </a:spcAft>
                        <a:buNone/>
                      </a:pPr>
                      <a:r>
                        <a:rPr lang="en"/>
                        <a:t>5</a:t>
                      </a:r>
                      <a:endParaRPr/>
                    </a:p>
                  </a:txBody>
                  <a:tcPr marT="91425" marB="91425" marR="91425" marL="91425"/>
                </a:tc>
                <a:tc>
                  <a:txBody>
                    <a:bodyPr/>
                    <a:lstStyle/>
                    <a:p>
                      <a:pPr indent="0" lvl="0" marL="0" rtl="0" algn="l">
                        <a:spcBef>
                          <a:spcPts val="0"/>
                        </a:spcBef>
                        <a:spcAft>
                          <a:spcPts val="0"/>
                        </a:spcAft>
                        <a:buNone/>
                      </a:pPr>
                      <a:r>
                        <a:rPr lang="en"/>
                        <a:t>Restaurant Management Software</a:t>
                      </a:r>
                      <a:endParaRPr/>
                    </a:p>
                  </a:txBody>
                  <a:tcPr marT="91425" marB="91425" marR="91425" marL="91425"/>
                </a:tc>
                <a:tc>
                  <a:txBody>
                    <a:bodyPr/>
                    <a:lstStyle/>
                    <a:p>
                      <a:pPr indent="0" lvl="0" marL="0" rtl="0" algn="l">
                        <a:spcBef>
                          <a:spcPts val="0"/>
                        </a:spcBef>
                        <a:spcAft>
                          <a:spcPts val="0"/>
                        </a:spcAft>
                        <a:buNone/>
                      </a:pPr>
                      <a:r>
                        <a:rPr lang="en">
                          <a:solidFill>
                            <a:schemeClr val="dk1"/>
                          </a:solidFill>
                        </a:rPr>
                        <a:t>100 – 1K</a:t>
                      </a:r>
                      <a:endParaRPr/>
                    </a:p>
                  </a:txBody>
                  <a:tcPr marT="91425" marB="91425" marR="91425" marL="91425"/>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6666"/>
              <a:buFont typeface="Arial"/>
              <a:buNone/>
            </a:pPr>
            <a:r>
              <a:rPr lang="en" sz="3000">
                <a:solidFill>
                  <a:srgbClr val="AF7B51"/>
                </a:solidFill>
                <a:latin typeface="Nunito"/>
                <a:ea typeface="Nunito"/>
                <a:cs typeface="Nunito"/>
                <a:sym typeface="Nunito"/>
              </a:rPr>
              <a:t>Task 3 - On-Page SEO Optimization Audit</a:t>
            </a:r>
            <a:endParaRPr sz="3000">
              <a:solidFill>
                <a:srgbClr val="AF7B51"/>
              </a:solidFill>
              <a:latin typeface="Nunito"/>
              <a:ea typeface="Nunito"/>
              <a:cs typeface="Nunito"/>
              <a:sym typeface="Nunito"/>
            </a:endParaRPr>
          </a:p>
          <a:p>
            <a:pPr indent="0" lvl="0" marL="0" rtl="0" algn="l">
              <a:spcBef>
                <a:spcPts val="0"/>
              </a:spcBef>
              <a:spcAft>
                <a:spcPts val="0"/>
              </a:spcAft>
              <a:buNone/>
            </a:pPr>
            <a:r>
              <a:t/>
            </a:r>
            <a:endParaRPr/>
          </a:p>
        </p:txBody>
      </p:sp>
      <p:sp>
        <p:nvSpPr>
          <p:cNvPr id="85" name="Google Shape;85;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Selected Page: </a:t>
            </a:r>
            <a:r>
              <a:rPr lang="en" u="sng">
                <a:solidFill>
                  <a:schemeClr val="hlink"/>
                </a:solidFill>
                <a:hlinkClick r:id="rId3"/>
              </a:rPr>
              <a:t>https://www.gofrugal.com/restaurant/</a:t>
            </a:r>
            <a:endParaRPr/>
          </a:p>
          <a:p>
            <a:pPr indent="0" lvl="0" marL="0" rtl="0" algn="l">
              <a:spcBef>
                <a:spcPts val="1200"/>
              </a:spcBef>
              <a:spcAft>
                <a:spcPts val="0"/>
              </a:spcAft>
              <a:buNone/>
            </a:pPr>
            <a:r>
              <a:rPr lang="en"/>
              <a:t>Target keyword: </a:t>
            </a:r>
            <a:r>
              <a:rPr lang="en" sz="1500">
                <a:solidFill>
                  <a:srgbClr val="333333"/>
                </a:solidFill>
                <a:highlight>
                  <a:srgbClr val="FFFFFF"/>
                </a:highlight>
              </a:rPr>
              <a:t>Restaurant management system</a:t>
            </a:r>
            <a:endParaRPr sz="1500"/>
          </a:p>
          <a:p>
            <a:pPr indent="-317500" lvl="0" marL="457200" rtl="0" algn="l">
              <a:lnSpc>
                <a:spcPct val="150000"/>
              </a:lnSpc>
              <a:spcBef>
                <a:spcPts val="1200"/>
              </a:spcBef>
              <a:spcAft>
                <a:spcPts val="0"/>
              </a:spcAft>
              <a:buClr>
                <a:schemeClr val="dk1"/>
              </a:buClr>
              <a:buSzPts val="1400"/>
              <a:buChar char="●"/>
            </a:pPr>
            <a:r>
              <a:rPr b="1" lang="en" sz="1400">
                <a:solidFill>
                  <a:schemeClr val="dk1"/>
                </a:solidFill>
              </a:rPr>
              <a:t>Title Tag:</a:t>
            </a:r>
            <a:r>
              <a:rPr lang="en" sz="1400">
                <a:solidFill>
                  <a:schemeClr val="dk1"/>
                </a:solidFill>
              </a:rPr>
              <a:t> Optimized Properly with targeted keywords </a:t>
            </a:r>
            <a:endParaRPr sz="1400">
              <a:solidFill>
                <a:schemeClr val="dk1"/>
              </a:solidFill>
            </a:endParaRPr>
          </a:p>
          <a:p>
            <a:pPr indent="-317500" lvl="0" marL="457200" rtl="0" algn="l">
              <a:lnSpc>
                <a:spcPct val="150000"/>
              </a:lnSpc>
              <a:spcBef>
                <a:spcPts val="0"/>
              </a:spcBef>
              <a:spcAft>
                <a:spcPts val="0"/>
              </a:spcAft>
              <a:buClr>
                <a:schemeClr val="dk1"/>
              </a:buClr>
              <a:buSzPts val="1400"/>
              <a:buChar char="●"/>
            </a:pPr>
            <a:r>
              <a:rPr b="1" lang="en" sz="1400">
                <a:solidFill>
                  <a:schemeClr val="dk1"/>
                </a:solidFill>
              </a:rPr>
              <a:t>Meta Description:</a:t>
            </a:r>
            <a:r>
              <a:rPr lang="en" sz="1400">
                <a:solidFill>
                  <a:schemeClr val="dk1"/>
                </a:solidFill>
              </a:rPr>
              <a:t> </a:t>
            </a:r>
            <a:r>
              <a:rPr lang="en" sz="1400">
                <a:solidFill>
                  <a:schemeClr val="dk1"/>
                </a:solidFill>
              </a:rPr>
              <a:t>Optimized Properly with targeted keywords </a:t>
            </a:r>
            <a:endParaRPr sz="1400">
              <a:solidFill>
                <a:schemeClr val="dk1"/>
              </a:solidFill>
            </a:endParaRPr>
          </a:p>
          <a:p>
            <a:pPr indent="-317500" lvl="0" marL="457200" rtl="0" algn="l">
              <a:lnSpc>
                <a:spcPct val="150000"/>
              </a:lnSpc>
              <a:spcBef>
                <a:spcPts val="0"/>
              </a:spcBef>
              <a:spcAft>
                <a:spcPts val="0"/>
              </a:spcAft>
              <a:buClr>
                <a:schemeClr val="dk1"/>
              </a:buClr>
              <a:buSzPts val="1400"/>
              <a:buChar char="●"/>
            </a:pPr>
            <a:r>
              <a:rPr b="1" lang="en" sz="1400">
                <a:solidFill>
                  <a:schemeClr val="dk1"/>
                </a:solidFill>
              </a:rPr>
              <a:t>HTML Tags: </a:t>
            </a:r>
            <a:r>
              <a:rPr lang="en" sz="1400">
                <a:solidFill>
                  <a:schemeClr val="dk1"/>
                </a:solidFill>
              </a:rPr>
              <a:t>The HTML tags are poorly optimized because H5 was missing</a:t>
            </a:r>
            <a:endParaRPr sz="1400">
              <a:solidFill>
                <a:schemeClr val="dk1"/>
              </a:solidFill>
            </a:endParaRPr>
          </a:p>
          <a:p>
            <a:pPr indent="-317500" lvl="0" marL="457200" rtl="0" algn="l">
              <a:lnSpc>
                <a:spcPct val="150000"/>
              </a:lnSpc>
              <a:spcBef>
                <a:spcPts val="0"/>
              </a:spcBef>
              <a:spcAft>
                <a:spcPts val="0"/>
              </a:spcAft>
              <a:buClr>
                <a:schemeClr val="dk1"/>
              </a:buClr>
              <a:buSzPts val="1400"/>
              <a:buChar char="●"/>
            </a:pPr>
            <a:r>
              <a:rPr b="1" lang="en" sz="1400">
                <a:solidFill>
                  <a:schemeClr val="dk1"/>
                </a:solidFill>
              </a:rPr>
              <a:t>Headings and Content: </a:t>
            </a:r>
            <a:r>
              <a:rPr lang="en" sz="1400">
                <a:solidFill>
                  <a:schemeClr val="dk1"/>
                </a:solidFill>
              </a:rPr>
              <a:t>Keywords are over optimized and used more than 5 times </a:t>
            </a:r>
            <a:endParaRPr sz="1400">
              <a:solidFill>
                <a:schemeClr val="dk1"/>
              </a:solidFill>
            </a:endParaRPr>
          </a:p>
          <a:p>
            <a:pPr indent="-317500" lvl="0" marL="457200" rtl="0" algn="l">
              <a:lnSpc>
                <a:spcPct val="150000"/>
              </a:lnSpc>
              <a:spcBef>
                <a:spcPts val="0"/>
              </a:spcBef>
              <a:spcAft>
                <a:spcPts val="0"/>
              </a:spcAft>
              <a:buClr>
                <a:schemeClr val="dk1"/>
              </a:buClr>
              <a:buSzPts val="1400"/>
              <a:buChar char="●"/>
            </a:pPr>
            <a:r>
              <a:rPr b="1" lang="en" sz="1400">
                <a:solidFill>
                  <a:schemeClr val="dk1"/>
                </a:solidFill>
              </a:rPr>
              <a:t>Internal and External linking: </a:t>
            </a:r>
            <a:r>
              <a:rPr lang="en" sz="1400">
                <a:solidFill>
                  <a:schemeClr val="dk1"/>
                </a:solidFill>
              </a:rPr>
              <a:t>Both the Internal and External link is </a:t>
            </a:r>
            <a:r>
              <a:rPr lang="en" sz="1400">
                <a:solidFill>
                  <a:schemeClr val="dk1"/>
                </a:solidFill>
              </a:rPr>
              <a:t>present</a:t>
            </a:r>
            <a:r>
              <a:rPr lang="en" sz="1400">
                <a:solidFill>
                  <a:schemeClr val="dk1"/>
                </a:solidFill>
              </a:rPr>
              <a:t> in the webpage</a:t>
            </a:r>
            <a:endParaRPr sz="1400">
              <a:solidFill>
                <a:schemeClr val="dk1"/>
              </a:solidFill>
            </a:endParaRPr>
          </a:p>
          <a:p>
            <a:pPr indent="-317500" lvl="0" marL="457200" rtl="0" algn="l">
              <a:lnSpc>
                <a:spcPct val="150000"/>
              </a:lnSpc>
              <a:spcBef>
                <a:spcPts val="0"/>
              </a:spcBef>
              <a:spcAft>
                <a:spcPts val="0"/>
              </a:spcAft>
              <a:buClr>
                <a:schemeClr val="dk1"/>
              </a:buClr>
              <a:buSzPts val="1400"/>
              <a:buChar char="●"/>
            </a:pPr>
            <a:r>
              <a:rPr b="1" lang="en" sz="1400">
                <a:solidFill>
                  <a:schemeClr val="dk1"/>
                </a:solidFill>
              </a:rPr>
              <a:t>Images: </a:t>
            </a:r>
            <a:r>
              <a:rPr lang="en" sz="1400">
                <a:solidFill>
                  <a:schemeClr val="dk1"/>
                </a:solidFill>
              </a:rPr>
              <a:t>The images are optimized properly with ALT text in the webpage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3000">
                <a:solidFill>
                  <a:srgbClr val="AF7B51"/>
                </a:solidFill>
                <a:latin typeface="Nunito"/>
                <a:ea typeface="Nunito"/>
                <a:cs typeface="Nunito"/>
                <a:sym typeface="Nunito"/>
              </a:rPr>
              <a:t>Task 3 - On-Page SEO Optimization Audit</a:t>
            </a:r>
            <a:endParaRPr sz="3000">
              <a:solidFill>
                <a:srgbClr val="AF7B51"/>
              </a:solidFill>
              <a:latin typeface="Nunito"/>
              <a:ea typeface="Nunito"/>
              <a:cs typeface="Nunito"/>
              <a:sym typeface="Nunito"/>
            </a:endParaRPr>
          </a:p>
          <a:p>
            <a:pPr indent="0" lvl="0" marL="0" rtl="0" algn="l">
              <a:spcBef>
                <a:spcPts val="0"/>
              </a:spcBef>
              <a:spcAft>
                <a:spcPts val="0"/>
              </a:spcAft>
              <a:buNone/>
            </a:pPr>
            <a:r>
              <a:t/>
            </a:r>
            <a:endParaRPr/>
          </a:p>
        </p:txBody>
      </p:sp>
      <p:sp>
        <p:nvSpPr>
          <p:cNvPr id="91" name="Google Shape;91;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Selected Page: </a:t>
            </a:r>
            <a:r>
              <a:rPr lang="en" u="sng">
                <a:solidFill>
                  <a:schemeClr val="hlink"/>
                </a:solidFill>
                <a:hlinkClick r:id="rId3"/>
              </a:rPr>
              <a:t>https://www.gofrugal.com/distribution/</a:t>
            </a:r>
            <a:r>
              <a:rPr lang="en"/>
              <a:t> </a:t>
            </a:r>
            <a:endParaRPr/>
          </a:p>
          <a:p>
            <a:pPr indent="0" lvl="0" marL="0" rtl="0" algn="l">
              <a:spcBef>
                <a:spcPts val="1200"/>
              </a:spcBef>
              <a:spcAft>
                <a:spcPts val="0"/>
              </a:spcAft>
              <a:buNone/>
            </a:pPr>
            <a:r>
              <a:rPr lang="en"/>
              <a:t>Target Keyword: </a:t>
            </a:r>
            <a:r>
              <a:rPr lang="en" sz="1400">
                <a:solidFill>
                  <a:schemeClr val="dk1"/>
                </a:solidFill>
                <a:highlight>
                  <a:srgbClr val="FFFFFF"/>
                </a:highlight>
              </a:rPr>
              <a:t>Distribution management software</a:t>
            </a:r>
            <a:endParaRPr sz="1400"/>
          </a:p>
          <a:p>
            <a:pPr indent="-317500" lvl="0" marL="457200" rtl="0" algn="l">
              <a:lnSpc>
                <a:spcPct val="150000"/>
              </a:lnSpc>
              <a:spcBef>
                <a:spcPts val="1200"/>
              </a:spcBef>
              <a:spcAft>
                <a:spcPts val="0"/>
              </a:spcAft>
              <a:buClr>
                <a:schemeClr val="dk1"/>
              </a:buClr>
              <a:buSzPts val="1400"/>
              <a:buChar char="●"/>
            </a:pPr>
            <a:r>
              <a:rPr b="1" lang="en" sz="1400">
                <a:solidFill>
                  <a:schemeClr val="dk1"/>
                </a:solidFill>
              </a:rPr>
              <a:t>Title Tag:</a:t>
            </a:r>
            <a:r>
              <a:rPr lang="en" sz="1400">
                <a:solidFill>
                  <a:schemeClr val="dk1"/>
                </a:solidFill>
              </a:rPr>
              <a:t> Was not optimized properly with targeted keywords </a:t>
            </a:r>
            <a:endParaRPr sz="1400">
              <a:solidFill>
                <a:schemeClr val="dk1"/>
              </a:solidFill>
            </a:endParaRPr>
          </a:p>
          <a:p>
            <a:pPr indent="-317500" lvl="0" marL="457200" rtl="0" algn="l">
              <a:lnSpc>
                <a:spcPct val="150000"/>
              </a:lnSpc>
              <a:spcBef>
                <a:spcPts val="0"/>
              </a:spcBef>
              <a:spcAft>
                <a:spcPts val="0"/>
              </a:spcAft>
              <a:buClr>
                <a:schemeClr val="dk1"/>
              </a:buClr>
              <a:buSzPts val="1400"/>
              <a:buChar char="●"/>
            </a:pPr>
            <a:r>
              <a:rPr b="1" lang="en" sz="1400">
                <a:solidFill>
                  <a:schemeClr val="dk1"/>
                </a:solidFill>
              </a:rPr>
              <a:t>Meta Description:</a:t>
            </a:r>
            <a:r>
              <a:rPr lang="en" sz="1400">
                <a:solidFill>
                  <a:schemeClr val="dk1"/>
                </a:solidFill>
              </a:rPr>
              <a:t> Optimized Properly with targeted keywords </a:t>
            </a:r>
            <a:endParaRPr b="1" sz="1400">
              <a:solidFill>
                <a:schemeClr val="dk1"/>
              </a:solidFill>
            </a:endParaRPr>
          </a:p>
          <a:p>
            <a:pPr indent="-317500" lvl="0" marL="457200" rtl="0" algn="l">
              <a:lnSpc>
                <a:spcPct val="150000"/>
              </a:lnSpc>
              <a:spcBef>
                <a:spcPts val="0"/>
              </a:spcBef>
              <a:spcAft>
                <a:spcPts val="0"/>
              </a:spcAft>
              <a:buClr>
                <a:schemeClr val="dk1"/>
              </a:buClr>
              <a:buSzPts val="1400"/>
              <a:buChar char="●"/>
            </a:pPr>
            <a:r>
              <a:rPr b="1" lang="en" sz="1400">
                <a:solidFill>
                  <a:schemeClr val="dk1"/>
                </a:solidFill>
              </a:rPr>
              <a:t>HTML Tags: </a:t>
            </a:r>
            <a:r>
              <a:rPr lang="en" sz="1400">
                <a:solidFill>
                  <a:schemeClr val="dk1"/>
                </a:solidFill>
              </a:rPr>
              <a:t>The HTML tags are poorly optimized because H3 was missing</a:t>
            </a:r>
            <a:endParaRPr sz="1400">
              <a:solidFill>
                <a:schemeClr val="dk1"/>
              </a:solidFill>
            </a:endParaRPr>
          </a:p>
          <a:p>
            <a:pPr indent="-317500" lvl="0" marL="457200" rtl="0" algn="l">
              <a:lnSpc>
                <a:spcPct val="150000"/>
              </a:lnSpc>
              <a:spcBef>
                <a:spcPts val="0"/>
              </a:spcBef>
              <a:spcAft>
                <a:spcPts val="0"/>
              </a:spcAft>
              <a:buClr>
                <a:schemeClr val="dk1"/>
              </a:buClr>
              <a:buSzPts val="1400"/>
              <a:buChar char="●"/>
            </a:pPr>
            <a:r>
              <a:rPr b="1" lang="en" sz="1400">
                <a:solidFill>
                  <a:schemeClr val="dk1"/>
                </a:solidFill>
              </a:rPr>
              <a:t>Headings and Content: </a:t>
            </a:r>
            <a:r>
              <a:rPr lang="en" sz="1400">
                <a:solidFill>
                  <a:schemeClr val="dk1"/>
                </a:solidFill>
              </a:rPr>
              <a:t>Keywords are over optimized and used more than 5 times </a:t>
            </a:r>
            <a:endParaRPr sz="1400">
              <a:solidFill>
                <a:schemeClr val="dk1"/>
              </a:solidFill>
            </a:endParaRPr>
          </a:p>
          <a:p>
            <a:pPr indent="-317500" lvl="0" marL="457200" rtl="0" algn="l">
              <a:lnSpc>
                <a:spcPct val="150000"/>
              </a:lnSpc>
              <a:spcBef>
                <a:spcPts val="0"/>
              </a:spcBef>
              <a:spcAft>
                <a:spcPts val="0"/>
              </a:spcAft>
              <a:buClr>
                <a:schemeClr val="dk1"/>
              </a:buClr>
              <a:buSzPts val="1400"/>
              <a:buChar char="●"/>
            </a:pPr>
            <a:r>
              <a:rPr b="1" lang="en" sz="1400">
                <a:solidFill>
                  <a:schemeClr val="dk1"/>
                </a:solidFill>
              </a:rPr>
              <a:t>Internal and External linking: </a:t>
            </a:r>
            <a:r>
              <a:rPr lang="en" sz="1400">
                <a:solidFill>
                  <a:schemeClr val="dk1"/>
                </a:solidFill>
              </a:rPr>
              <a:t>Both the Internal and External link is present in the webpage</a:t>
            </a:r>
            <a:endParaRPr sz="1400">
              <a:solidFill>
                <a:schemeClr val="dk1"/>
              </a:solidFill>
            </a:endParaRPr>
          </a:p>
          <a:p>
            <a:pPr indent="-317500" lvl="0" marL="457200" rtl="0" algn="l">
              <a:lnSpc>
                <a:spcPct val="150000"/>
              </a:lnSpc>
              <a:spcBef>
                <a:spcPts val="0"/>
              </a:spcBef>
              <a:spcAft>
                <a:spcPts val="0"/>
              </a:spcAft>
              <a:buClr>
                <a:schemeClr val="dk1"/>
              </a:buClr>
              <a:buSzPts val="1400"/>
              <a:buChar char="●"/>
            </a:pPr>
            <a:r>
              <a:rPr b="1" lang="en" sz="1400">
                <a:solidFill>
                  <a:schemeClr val="dk1"/>
                </a:solidFill>
              </a:rPr>
              <a:t>Images: </a:t>
            </a:r>
            <a:r>
              <a:rPr lang="en" sz="1400">
                <a:solidFill>
                  <a:schemeClr val="dk1"/>
                </a:solidFill>
              </a:rPr>
              <a:t>The images are optimized properly with ALT text in the webpage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3000">
                <a:solidFill>
                  <a:srgbClr val="AF7B51"/>
                </a:solidFill>
                <a:latin typeface="Nunito"/>
                <a:ea typeface="Nunito"/>
                <a:cs typeface="Nunito"/>
                <a:sym typeface="Nunito"/>
              </a:rPr>
              <a:t>Task 3 - On-Page SEO Optimization Audit</a:t>
            </a:r>
            <a:endParaRPr sz="3000">
              <a:solidFill>
                <a:srgbClr val="AF7B51"/>
              </a:solidFill>
              <a:latin typeface="Nunito"/>
              <a:ea typeface="Nunito"/>
              <a:cs typeface="Nunito"/>
              <a:sym typeface="Nunito"/>
            </a:endParaRPr>
          </a:p>
          <a:p>
            <a:pPr indent="0" lvl="0" marL="0" rtl="0" algn="l">
              <a:spcBef>
                <a:spcPts val="0"/>
              </a:spcBef>
              <a:spcAft>
                <a:spcPts val="0"/>
              </a:spcAft>
              <a:buNone/>
            </a:pPr>
            <a:r>
              <a:t/>
            </a:r>
            <a:endParaRPr/>
          </a:p>
        </p:txBody>
      </p:sp>
      <p:sp>
        <p:nvSpPr>
          <p:cNvPr id="97" name="Google Shape;97;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Selected Page: </a:t>
            </a:r>
            <a:r>
              <a:rPr lang="en" u="sng">
                <a:solidFill>
                  <a:schemeClr val="hlink"/>
                </a:solidFill>
                <a:hlinkClick r:id="rId3"/>
              </a:rPr>
              <a:t>https://www.gofrugal.com/retail/</a:t>
            </a:r>
            <a:r>
              <a:rPr lang="en"/>
              <a:t> </a:t>
            </a:r>
            <a:endParaRPr/>
          </a:p>
          <a:p>
            <a:pPr indent="0" lvl="0" marL="0" rtl="0" algn="l">
              <a:spcBef>
                <a:spcPts val="1200"/>
              </a:spcBef>
              <a:spcAft>
                <a:spcPts val="0"/>
              </a:spcAft>
              <a:buNone/>
            </a:pPr>
            <a:r>
              <a:rPr lang="en"/>
              <a:t>Target Keyword: </a:t>
            </a:r>
            <a:r>
              <a:rPr lang="en" sz="1400">
                <a:solidFill>
                  <a:schemeClr val="dk1"/>
                </a:solidFill>
                <a:highlight>
                  <a:srgbClr val="FFFFFF"/>
                </a:highlight>
              </a:rPr>
              <a:t>Retail POS Software</a:t>
            </a:r>
            <a:endParaRPr sz="1400"/>
          </a:p>
          <a:p>
            <a:pPr indent="-317500" lvl="0" marL="457200" rtl="0" algn="l">
              <a:lnSpc>
                <a:spcPct val="150000"/>
              </a:lnSpc>
              <a:spcBef>
                <a:spcPts val="1200"/>
              </a:spcBef>
              <a:spcAft>
                <a:spcPts val="0"/>
              </a:spcAft>
              <a:buClr>
                <a:schemeClr val="dk1"/>
              </a:buClr>
              <a:buSzPts val="1400"/>
              <a:buChar char="●"/>
            </a:pPr>
            <a:r>
              <a:rPr b="1" lang="en" sz="1400">
                <a:solidFill>
                  <a:schemeClr val="dk1"/>
                </a:solidFill>
              </a:rPr>
              <a:t>Title Tag:</a:t>
            </a:r>
            <a:r>
              <a:rPr lang="en" sz="1400">
                <a:solidFill>
                  <a:schemeClr val="dk1"/>
                </a:solidFill>
              </a:rPr>
              <a:t> Optimized Properly with targeted keywords </a:t>
            </a:r>
            <a:endParaRPr sz="1400">
              <a:solidFill>
                <a:schemeClr val="dk1"/>
              </a:solidFill>
            </a:endParaRPr>
          </a:p>
          <a:p>
            <a:pPr indent="-317500" lvl="0" marL="457200" rtl="0" algn="l">
              <a:lnSpc>
                <a:spcPct val="150000"/>
              </a:lnSpc>
              <a:spcBef>
                <a:spcPts val="0"/>
              </a:spcBef>
              <a:spcAft>
                <a:spcPts val="0"/>
              </a:spcAft>
              <a:buClr>
                <a:schemeClr val="dk1"/>
              </a:buClr>
              <a:buSzPts val="1400"/>
              <a:buChar char="●"/>
            </a:pPr>
            <a:r>
              <a:rPr b="1" lang="en" sz="1400">
                <a:solidFill>
                  <a:schemeClr val="dk1"/>
                </a:solidFill>
              </a:rPr>
              <a:t>Meta Description:</a:t>
            </a:r>
            <a:r>
              <a:rPr lang="en" sz="1400">
                <a:solidFill>
                  <a:schemeClr val="dk1"/>
                </a:solidFill>
              </a:rPr>
              <a:t> O</a:t>
            </a:r>
            <a:r>
              <a:rPr lang="en" sz="1400">
                <a:solidFill>
                  <a:schemeClr val="dk1"/>
                </a:solidFill>
              </a:rPr>
              <a:t>ptimized Properly with targeted keywords </a:t>
            </a:r>
            <a:endParaRPr sz="1400">
              <a:solidFill>
                <a:schemeClr val="dk1"/>
              </a:solidFill>
            </a:endParaRPr>
          </a:p>
          <a:p>
            <a:pPr indent="-317500" lvl="0" marL="457200" rtl="0" algn="l">
              <a:lnSpc>
                <a:spcPct val="150000"/>
              </a:lnSpc>
              <a:spcBef>
                <a:spcPts val="0"/>
              </a:spcBef>
              <a:spcAft>
                <a:spcPts val="0"/>
              </a:spcAft>
              <a:buClr>
                <a:schemeClr val="dk1"/>
              </a:buClr>
              <a:buSzPts val="1400"/>
              <a:buChar char="●"/>
            </a:pPr>
            <a:r>
              <a:rPr b="1" lang="en" sz="1400">
                <a:solidFill>
                  <a:schemeClr val="dk1"/>
                </a:solidFill>
              </a:rPr>
              <a:t>HTML Tags: </a:t>
            </a:r>
            <a:r>
              <a:rPr lang="en" sz="1400">
                <a:solidFill>
                  <a:schemeClr val="dk1"/>
                </a:solidFill>
              </a:rPr>
              <a:t>The HTML tags are also optimized well.</a:t>
            </a:r>
            <a:endParaRPr sz="1400">
              <a:solidFill>
                <a:schemeClr val="dk1"/>
              </a:solidFill>
            </a:endParaRPr>
          </a:p>
          <a:p>
            <a:pPr indent="-317500" lvl="0" marL="457200" rtl="0" algn="l">
              <a:lnSpc>
                <a:spcPct val="150000"/>
              </a:lnSpc>
              <a:spcBef>
                <a:spcPts val="0"/>
              </a:spcBef>
              <a:spcAft>
                <a:spcPts val="0"/>
              </a:spcAft>
              <a:buClr>
                <a:schemeClr val="dk1"/>
              </a:buClr>
              <a:buSzPts val="1400"/>
              <a:buChar char="●"/>
            </a:pPr>
            <a:r>
              <a:rPr b="1" lang="en" sz="1400">
                <a:solidFill>
                  <a:schemeClr val="dk1"/>
                </a:solidFill>
              </a:rPr>
              <a:t>Headings and Content: </a:t>
            </a:r>
            <a:r>
              <a:rPr lang="en" sz="1400">
                <a:solidFill>
                  <a:schemeClr val="dk1"/>
                </a:solidFill>
              </a:rPr>
              <a:t>Keywords are over optimized and used more than 5 times </a:t>
            </a:r>
            <a:endParaRPr sz="1400">
              <a:solidFill>
                <a:schemeClr val="dk1"/>
              </a:solidFill>
            </a:endParaRPr>
          </a:p>
          <a:p>
            <a:pPr indent="-317500" lvl="0" marL="457200" rtl="0" algn="l">
              <a:lnSpc>
                <a:spcPct val="150000"/>
              </a:lnSpc>
              <a:spcBef>
                <a:spcPts val="0"/>
              </a:spcBef>
              <a:spcAft>
                <a:spcPts val="0"/>
              </a:spcAft>
              <a:buClr>
                <a:schemeClr val="dk1"/>
              </a:buClr>
              <a:buSzPts val="1400"/>
              <a:buChar char="●"/>
            </a:pPr>
            <a:r>
              <a:rPr b="1" lang="en" sz="1400">
                <a:solidFill>
                  <a:schemeClr val="dk1"/>
                </a:solidFill>
              </a:rPr>
              <a:t>Internal and External linking: </a:t>
            </a:r>
            <a:r>
              <a:rPr lang="en" sz="1400">
                <a:solidFill>
                  <a:schemeClr val="dk1"/>
                </a:solidFill>
              </a:rPr>
              <a:t>Internal link is present and External link was not there in the webpage</a:t>
            </a:r>
            <a:endParaRPr sz="1400">
              <a:solidFill>
                <a:schemeClr val="dk1"/>
              </a:solidFill>
            </a:endParaRPr>
          </a:p>
          <a:p>
            <a:pPr indent="-317500" lvl="0" marL="457200" rtl="0" algn="l">
              <a:lnSpc>
                <a:spcPct val="150000"/>
              </a:lnSpc>
              <a:spcBef>
                <a:spcPts val="0"/>
              </a:spcBef>
              <a:spcAft>
                <a:spcPts val="0"/>
              </a:spcAft>
              <a:buClr>
                <a:schemeClr val="dk1"/>
              </a:buClr>
              <a:buSzPts val="1400"/>
              <a:buChar char="●"/>
            </a:pPr>
            <a:r>
              <a:rPr b="1" lang="en" sz="1400">
                <a:solidFill>
                  <a:schemeClr val="dk1"/>
                </a:solidFill>
              </a:rPr>
              <a:t>Images: </a:t>
            </a:r>
            <a:r>
              <a:rPr lang="en" sz="1400">
                <a:solidFill>
                  <a:schemeClr val="dk1"/>
                </a:solidFill>
              </a:rPr>
              <a:t>The images are optimized properly with ALT text in the webpage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lnSpc>
                <a:spcPct val="150000"/>
              </a:lnSpc>
              <a:spcBef>
                <a:spcPts val="0"/>
              </a:spcBef>
              <a:spcAft>
                <a:spcPts val="0"/>
              </a:spcAft>
              <a:buNone/>
            </a:pPr>
            <a:r>
              <a:rPr lang="en" sz="1400"/>
              <a:t>Home</a:t>
            </a:r>
            <a:r>
              <a:rPr lang="en" sz="1400"/>
              <a:t> Page: </a:t>
            </a:r>
            <a:r>
              <a:rPr lang="en" sz="1400" u="sng">
                <a:solidFill>
                  <a:schemeClr val="hlink"/>
                </a:solidFill>
                <a:hlinkClick r:id="rId3"/>
              </a:rPr>
              <a:t>https://www.gofrugal.com/</a:t>
            </a:r>
            <a:r>
              <a:rPr lang="en" sz="1400"/>
              <a:t> </a:t>
            </a:r>
            <a:endParaRPr sz="1400"/>
          </a:p>
          <a:p>
            <a:pPr indent="-317500" lvl="0" marL="457200" rtl="0" algn="l">
              <a:lnSpc>
                <a:spcPct val="150000"/>
              </a:lnSpc>
              <a:spcBef>
                <a:spcPts val="1200"/>
              </a:spcBef>
              <a:spcAft>
                <a:spcPts val="0"/>
              </a:spcAft>
              <a:buClr>
                <a:schemeClr val="dk1"/>
              </a:buClr>
              <a:buSzPts val="1400"/>
              <a:buChar char="●"/>
            </a:pPr>
            <a:r>
              <a:rPr lang="en" sz="1400"/>
              <a:t>The technical SEO was optimized properly with load time 877 ms</a:t>
            </a:r>
            <a:endParaRPr sz="1400"/>
          </a:p>
          <a:p>
            <a:pPr indent="0" lvl="0" marL="0" rtl="0" algn="l">
              <a:lnSpc>
                <a:spcPct val="150000"/>
              </a:lnSpc>
              <a:spcBef>
                <a:spcPts val="0"/>
              </a:spcBef>
              <a:spcAft>
                <a:spcPts val="0"/>
              </a:spcAft>
              <a:buNone/>
            </a:pPr>
            <a:r>
              <a:t/>
            </a:r>
            <a:endParaRPr sz="1400"/>
          </a:p>
          <a:p>
            <a:pPr indent="0" lvl="0" marL="0" rtl="0" algn="l">
              <a:lnSpc>
                <a:spcPct val="150000"/>
              </a:lnSpc>
              <a:spcBef>
                <a:spcPts val="0"/>
              </a:spcBef>
              <a:spcAft>
                <a:spcPts val="0"/>
              </a:spcAft>
              <a:buNone/>
            </a:pPr>
            <a:r>
              <a:rPr lang="en" sz="1400"/>
              <a:t>Webpage 1: </a:t>
            </a:r>
            <a:r>
              <a:rPr lang="en" sz="1400" u="sng">
                <a:solidFill>
                  <a:schemeClr val="hlink"/>
                </a:solidFill>
                <a:hlinkClick r:id="rId4"/>
              </a:rPr>
              <a:t>https://www.gofrugal.com/restaurant/</a:t>
            </a:r>
            <a:r>
              <a:rPr lang="en" sz="1400"/>
              <a:t> </a:t>
            </a:r>
            <a:endParaRPr sz="1400"/>
          </a:p>
          <a:p>
            <a:pPr indent="-317500" lvl="0" marL="457200" rtl="0" algn="l">
              <a:lnSpc>
                <a:spcPct val="150000"/>
              </a:lnSpc>
              <a:spcBef>
                <a:spcPts val="0"/>
              </a:spcBef>
              <a:spcAft>
                <a:spcPts val="0"/>
              </a:spcAft>
              <a:buClr>
                <a:schemeClr val="dk1"/>
              </a:buClr>
              <a:buSzPts val="1400"/>
              <a:buChar char="●"/>
            </a:pPr>
            <a:r>
              <a:rPr lang="en" sz="1400"/>
              <a:t>The technical SEO of the selected page was optimized properly with load time 829 ms</a:t>
            </a:r>
            <a:endParaRPr sz="1400"/>
          </a:p>
          <a:p>
            <a:pPr indent="0" lvl="0" marL="0" rtl="0" algn="l">
              <a:lnSpc>
                <a:spcPct val="150000"/>
              </a:lnSpc>
              <a:spcBef>
                <a:spcPts val="0"/>
              </a:spcBef>
              <a:spcAft>
                <a:spcPts val="0"/>
              </a:spcAft>
              <a:buNone/>
            </a:pPr>
            <a:r>
              <a:t/>
            </a:r>
            <a:endParaRPr sz="1400"/>
          </a:p>
          <a:p>
            <a:pPr indent="0" lvl="0" marL="0" rtl="0" algn="l">
              <a:lnSpc>
                <a:spcPct val="150000"/>
              </a:lnSpc>
              <a:spcBef>
                <a:spcPts val="0"/>
              </a:spcBef>
              <a:spcAft>
                <a:spcPts val="0"/>
              </a:spcAft>
              <a:buNone/>
            </a:pPr>
            <a:r>
              <a:rPr lang="en" sz="1400"/>
              <a:t>Webpage 2: </a:t>
            </a:r>
            <a:r>
              <a:rPr lang="en" sz="1400" u="sng">
                <a:solidFill>
                  <a:schemeClr val="hlink"/>
                </a:solidFill>
                <a:hlinkClick r:id="rId5"/>
              </a:rPr>
              <a:t>https://www.gofrugal.com/retail/</a:t>
            </a:r>
            <a:r>
              <a:rPr lang="en" sz="1400"/>
              <a:t> </a:t>
            </a:r>
            <a:endParaRPr sz="1400"/>
          </a:p>
          <a:p>
            <a:pPr indent="-317500" lvl="0" marL="457200" rtl="0" algn="l">
              <a:lnSpc>
                <a:spcPct val="150000"/>
              </a:lnSpc>
              <a:spcBef>
                <a:spcPts val="0"/>
              </a:spcBef>
              <a:spcAft>
                <a:spcPts val="0"/>
              </a:spcAft>
              <a:buClr>
                <a:schemeClr val="dk1"/>
              </a:buClr>
              <a:buSzPts val="1400"/>
              <a:buChar char="●"/>
            </a:pPr>
            <a:r>
              <a:rPr lang="en" sz="1400"/>
              <a:t>The technical SEO of the selected page was optimized properly with load time 2.20s</a:t>
            </a:r>
            <a:endParaRPr sz="1400"/>
          </a:p>
          <a:p>
            <a:pPr indent="0" lvl="0" marL="0" rtl="0" algn="l">
              <a:lnSpc>
                <a:spcPct val="150000"/>
              </a:lnSpc>
              <a:spcBef>
                <a:spcPts val="0"/>
              </a:spcBef>
              <a:spcAft>
                <a:spcPts val="0"/>
              </a:spcAft>
              <a:buNone/>
            </a:pPr>
            <a:r>
              <a:t/>
            </a:r>
            <a:endParaRPr sz="1400"/>
          </a:p>
          <a:p>
            <a:pPr indent="0" lvl="0" marL="0" rtl="0" algn="l">
              <a:lnSpc>
                <a:spcPct val="150000"/>
              </a:lnSpc>
              <a:spcBef>
                <a:spcPts val="0"/>
              </a:spcBef>
              <a:spcAft>
                <a:spcPts val="0"/>
              </a:spcAft>
              <a:buNone/>
            </a:pPr>
            <a:r>
              <a:rPr lang="en" sz="1400"/>
              <a:t>Webpage 3:</a:t>
            </a:r>
            <a:r>
              <a:rPr lang="en" sz="1400" u="sng">
                <a:solidFill>
                  <a:schemeClr val="hlink"/>
                </a:solidFill>
                <a:hlinkClick r:id="rId6"/>
              </a:rPr>
              <a:t>https://www.gofrugal.com/distribution/</a:t>
            </a:r>
            <a:r>
              <a:rPr lang="en" sz="1400"/>
              <a:t> </a:t>
            </a:r>
            <a:endParaRPr sz="1400"/>
          </a:p>
          <a:p>
            <a:pPr indent="-317500" lvl="0" marL="457200" rtl="0" algn="l">
              <a:lnSpc>
                <a:spcPct val="150000"/>
              </a:lnSpc>
              <a:spcBef>
                <a:spcPts val="0"/>
              </a:spcBef>
              <a:spcAft>
                <a:spcPts val="0"/>
              </a:spcAft>
              <a:buClr>
                <a:schemeClr val="dk1"/>
              </a:buClr>
              <a:buSzPts val="1400"/>
              <a:buChar char="●"/>
            </a:pPr>
            <a:r>
              <a:rPr lang="en" sz="1400"/>
              <a:t>The technical SEO of the selected page was optimized properly with load time 959 ms</a:t>
            </a:r>
            <a:endParaRPr sz="1400"/>
          </a:p>
        </p:txBody>
      </p:sp>
      <p:sp>
        <p:nvSpPr>
          <p:cNvPr id="103" name="Google Shape;103;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3000">
                <a:solidFill>
                  <a:srgbClr val="AF7B51"/>
                </a:solidFill>
                <a:latin typeface="Nunito"/>
                <a:ea typeface="Nunito"/>
                <a:cs typeface="Nunito"/>
                <a:sym typeface="Nunito"/>
              </a:rPr>
              <a:t>Task 4 - Technical SEO</a:t>
            </a:r>
            <a:endParaRPr sz="3000">
              <a:solidFill>
                <a:srgbClr val="AF7B51"/>
              </a:solidFill>
              <a:latin typeface="Nunito"/>
              <a:ea typeface="Nunito"/>
              <a:cs typeface="Nunito"/>
              <a:sym typeface="Nuni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6666"/>
              <a:buFont typeface="Arial"/>
              <a:buNone/>
            </a:pPr>
            <a:r>
              <a:rPr lang="en" sz="3000">
                <a:solidFill>
                  <a:srgbClr val="AF7B51"/>
                </a:solidFill>
                <a:latin typeface="Nunito"/>
                <a:ea typeface="Nunito"/>
                <a:cs typeface="Nunito"/>
                <a:sym typeface="Nunito"/>
              </a:rPr>
              <a:t>Task 4 - Technical SEO</a:t>
            </a:r>
            <a:endParaRPr/>
          </a:p>
        </p:txBody>
      </p:sp>
      <p:sp>
        <p:nvSpPr>
          <p:cNvPr id="109" name="Google Shape;109;p2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150000"/>
              </a:lnSpc>
              <a:spcBef>
                <a:spcPts val="1200"/>
              </a:spcBef>
              <a:spcAft>
                <a:spcPts val="0"/>
              </a:spcAft>
              <a:buNone/>
            </a:pPr>
            <a:r>
              <a:rPr b="1" lang="en" sz="1400">
                <a:solidFill>
                  <a:schemeClr val="dk1"/>
                </a:solidFill>
              </a:rPr>
              <a:t>5 Best Practices to Improve Site and Web Page Speed:</a:t>
            </a:r>
            <a:endParaRPr b="1" sz="1400">
              <a:solidFill>
                <a:schemeClr val="dk1"/>
              </a:solidFill>
            </a:endParaRPr>
          </a:p>
          <a:p>
            <a:pPr indent="0" lvl="0" marL="457200" rtl="0" algn="l">
              <a:lnSpc>
                <a:spcPct val="150000"/>
              </a:lnSpc>
              <a:spcBef>
                <a:spcPts val="1200"/>
              </a:spcBef>
              <a:spcAft>
                <a:spcPts val="0"/>
              </a:spcAft>
              <a:buNone/>
            </a:pPr>
            <a:r>
              <a:rPr b="1" lang="en" sz="1300">
                <a:solidFill>
                  <a:schemeClr val="dk1"/>
                </a:solidFill>
              </a:rPr>
              <a:t>1. Compress Images: </a:t>
            </a:r>
            <a:r>
              <a:rPr lang="en" sz="1300">
                <a:solidFill>
                  <a:schemeClr val="dk1"/>
                </a:solidFill>
              </a:rPr>
              <a:t>Resize and compress images to reduce file size.</a:t>
            </a:r>
            <a:endParaRPr sz="1300">
              <a:solidFill>
                <a:schemeClr val="dk1"/>
              </a:solidFill>
            </a:endParaRPr>
          </a:p>
          <a:p>
            <a:pPr indent="0" lvl="0" marL="457200" rtl="0" algn="l">
              <a:lnSpc>
                <a:spcPct val="150000"/>
              </a:lnSpc>
              <a:spcBef>
                <a:spcPts val="1200"/>
              </a:spcBef>
              <a:spcAft>
                <a:spcPts val="0"/>
              </a:spcAft>
              <a:buNone/>
            </a:pPr>
            <a:r>
              <a:rPr b="1" lang="en" sz="1300">
                <a:solidFill>
                  <a:schemeClr val="dk1"/>
                </a:solidFill>
              </a:rPr>
              <a:t>2. Reduce HTTP Requests: </a:t>
            </a:r>
            <a:r>
              <a:rPr lang="en" sz="1300">
                <a:solidFill>
                  <a:schemeClr val="dk1"/>
                </a:solidFill>
              </a:rPr>
              <a:t>Minimize the number of elements (scripts, CSS, images) loaded</a:t>
            </a:r>
            <a:r>
              <a:rPr b="1" lang="en" sz="1300">
                <a:solidFill>
                  <a:schemeClr val="dk1"/>
                </a:solidFill>
              </a:rPr>
              <a:t>.</a:t>
            </a:r>
            <a:endParaRPr b="1" sz="1300">
              <a:solidFill>
                <a:schemeClr val="dk1"/>
              </a:solidFill>
            </a:endParaRPr>
          </a:p>
          <a:p>
            <a:pPr indent="0" lvl="0" marL="457200" rtl="0" algn="l">
              <a:lnSpc>
                <a:spcPct val="150000"/>
              </a:lnSpc>
              <a:spcBef>
                <a:spcPts val="1200"/>
              </a:spcBef>
              <a:spcAft>
                <a:spcPts val="0"/>
              </a:spcAft>
              <a:buNone/>
            </a:pPr>
            <a:r>
              <a:rPr b="1" lang="en" sz="1300">
                <a:solidFill>
                  <a:schemeClr val="dk1"/>
                </a:solidFill>
              </a:rPr>
              <a:t>3. Enable Browser Caching: </a:t>
            </a:r>
            <a:r>
              <a:rPr lang="en" sz="1300">
                <a:solidFill>
                  <a:schemeClr val="dk1"/>
                </a:solidFill>
              </a:rPr>
              <a:t>Store resources locally for faster subsequent loads.</a:t>
            </a:r>
            <a:endParaRPr sz="1300">
              <a:solidFill>
                <a:schemeClr val="dk1"/>
              </a:solidFill>
            </a:endParaRPr>
          </a:p>
          <a:p>
            <a:pPr indent="0" lvl="0" marL="457200" rtl="0" algn="l">
              <a:lnSpc>
                <a:spcPct val="150000"/>
              </a:lnSpc>
              <a:spcBef>
                <a:spcPts val="1200"/>
              </a:spcBef>
              <a:spcAft>
                <a:spcPts val="0"/>
              </a:spcAft>
              <a:buNone/>
            </a:pPr>
            <a:r>
              <a:rPr b="1" lang="en" sz="1300">
                <a:solidFill>
                  <a:schemeClr val="dk1"/>
                </a:solidFill>
              </a:rPr>
              <a:t>4. Utilize a Content Delivery Network (CDN): </a:t>
            </a:r>
            <a:r>
              <a:rPr lang="en" sz="1300">
                <a:solidFill>
                  <a:schemeClr val="dk1"/>
                </a:solidFill>
              </a:rPr>
              <a:t>Distribute website content across geographically dispersed servers for faster loading times.</a:t>
            </a:r>
            <a:endParaRPr sz="1300">
              <a:solidFill>
                <a:schemeClr val="dk1"/>
              </a:solidFill>
            </a:endParaRPr>
          </a:p>
          <a:p>
            <a:pPr indent="0" lvl="0" marL="457200" rtl="0" algn="l">
              <a:lnSpc>
                <a:spcPct val="150000"/>
              </a:lnSpc>
              <a:spcBef>
                <a:spcPts val="1200"/>
              </a:spcBef>
              <a:spcAft>
                <a:spcPts val="1200"/>
              </a:spcAft>
              <a:buNone/>
            </a:pPr>
            <a:r>
              <a:rPr b="1" lang="en" sz="1300">
                <a:solidFill>
                  <a:schemeClr val="dk1"/>
                </a:solidFill>
              </a:rPr>
              <a:t>5. Minify and Defer JavaScrip</a:t>
            </a:r>
            <a:r>
              <a:rPr b="1" lang="en" sz="1300">
                <a:solidFill>
                  <a:schemeClr val="dk1"/>
                </a:solidFill>
              </a:rPr>
              <a:t>t</a:t>
            </a:r>
            <a:r>
              <a:rPr b="1" lang="en" sz="1300">
                <a:solidFill>
                  <a:schemeClr val="dk1"/>
                </a:solidFill>
              </a:rPr>
              <a:t>: </a:t>
            </a:r>
            <a:r>
              <a:rPr lang="en" sz="1300">
                <a:solidFill>
                  <a:schemeClr val="dk1"/>
                </a:solidFill>
              </a:rPr>
              <a:t>Compress files and load non-essential scripts later.</a:t>
            </a:r>
            <a:endParaRPr sz="130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3"/>
          <p:cNvSpPr txBox="1"/>
          <p:nvPr>
            <p:ph type="title"/>
          </p:nvPr>
        </p:nvSpPr>
        <p:spPr>
          <a:xfrm>
            <a:off x="311700" y="2926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3000">
                <a:solidFill>
                  <a:srgbClr val="AF7B51"/>
                </a:solidFill>
                <a:latin typeface="Nunito"/>
                <a:ea typeface="Nunito"/>
                <a:cs typeface="Nunito"/>
                <a:sym typeface="Nunito"/>
              </a:rPr>
              <a:t>Task 5 - Content Strategy</a:t>
            </a:r>
            <a:endParaRPr/>
          </a:p>
        </p:txBody>
      </p:sp>
      <p:sp>
        <p:nvSpPr>
          <p:cNvPr id="115" name="Google Shape;115;p23"/>
          <p:cNvSpPr txBox="1"/>
          <p:nvPr>
            <p:ph idx="1" type="body"/>
          </p:nvPr>
        </p:nvSpPr>
        <p:spPr>
          <a:xfrm>
            <a:off x="311700" y="1069750"/>
            <a:ext cx="8520600" cy="3499200"/>
          </a:xfrm>
          <a:prstGeom prst="rect">
            <a:avLst/>
          </a:prstGeom>
        </p:spPr>
        <p:txBody>
          <a:bodyPr anchorCtr="0" anchor="t" bIns="91425" lIns="91425" spcFirstLastPara="1" rIns="91425" wrap="square" tIns="91425">
            <a:noAutofit/>
          </a:bodyPr>
          <a:lstStyle/>
          <a:p>
            <a:pPr indent="0" lvl="0" marL="0" rtl="0" algn="l">
              <a:lnSpc>
                <a:spcPct val="150000"/>
              </a:lnSpc>
              <a:spcBef>
                <a:spcPts val="1200"/>
              </a:spcBef>
              <a:spcAft>
                <a:spcPts val="0"/>
              </a:spcAft>
              <a:buNone/>
            </a:pPr>
            <a:r>
              <a:rPr b="1" lang="en" sz="1400">
                <a:solidFill>
                  <a:schemeClr val="dk1"/>
                </a:solidFill>
              </a:rPr>
              <a:t>Based on identified target keywords:</a:t>
            </a:r>
            <a:endParaRPr sz="1400"/>
          </a:p>
          <a:p>
            <a:pPr indent="0" lvl="0" marL="0" rtl="0" algn="l">
              <a:lnSpc>
                <a:spcPct val="150000"/>
              </a:lnSpc>
              <a:spcBef>
                <a:spcPts val="1200"/>
              </a:spcBef>
              <a:spcAft>
                <a:spcPts val="0"/>
              </a:spcAft>
              <a:buNone/>
            </a:pPr>
            <a:r>
              <a:rPr b="1" lang="en" sz="1400"/>
              <a:t>Restaurant management system</a:t>
            </a:r>
            <a:endParaRPr b="1" sz="1400"/>
          </a:p>
          <a:p>
            <a:pPr indent="-317500" lvl="0" marL="457200" rtl="0" algn="l">
              <a:lnSpc>
                <a:spcPct val="150000"/>
              </a:lnSpc>
              <a:spcBef>
                <a:spcPts val="0"/>
              </a:spcBef>
              <a:spcAft>
                <a:spcPts val="0"/>
              </a:spcAft>
              <a:buSzPts val="1400"/>
              <a:buChar char="-"/>
            </a:pPr>
            <a:r>
              <a:rPr lang="en" sz="1400"/>
              <a:t>How a Restaurant Management System Can Improve Customer Experience</a:t>
            </a:r>
            <a:endParaRPr sz="1400"/>
          </a:p>
          <a:p>
            <a:pPr indent="0" lvl="0" marL="0" rtl="0" algn="l">
              <a:lnSpc>
                <a:spcPct val="150000"/>
              </a:lnSpc>
              <a:spcBef>
                <a:spcPts val="0"/>
              </a:spcBef>
              <a:spcAft>
                <a:spcPts val="0"/>
              </a:spcAft>
              <a:buNone/>
            </a:pPr>
            <a:r>
              <a:rPr b="1" lang="en" sz="1400"/>
              <a:t>Distribution management software</a:t>
            </a:r>
            <a:endParaRPr b="1" sz="1400"/>
          </a:p>
          <a:p>
            <a:pPr indent="-317500" lvl="0" marL="457200" rtl="0" algn="l">
              <a:lnSpc>
                <a:spcPct val="150000"/>
              </a:lnSpc>
              <a:spcBef>
                <a:spcPts val="0"/>
              </a:spcBef>
              <a:spcAft>
                <a:spcPts val="0"/>
              </a:spcAft>
              <a:buSzPts val="1400"/>
              <a:buChar char="-"/>
            </a:pPr>
            <a:r>
              <a:rPr lang="en" sz="1400"/>
              <a:t>Benefits of Integrating Distribution Management Software with Your ERP System</a:t>
            </a:r>
            <a:endParaRPr sz="1400"/>
          </a:p>
          <a:p>
            <a:pPr indent="0" lvl="0" marL="0" rtl="0" algn="l">
              <a:lnSpc>
                <a:spcPct val="150000"/>
              </a:lnSpc>
              <a:spcBef>
                <a:spcPts val="0"/>
              </a:spcBef>
              <a:spcAft>
                <a:spcPts val="0"/>
              </a:spcAft>
              <a:buNone/>
            </a:pPr>
            <a:r>
              <a:rPr b="1" lang="en" sz="1400"/>
              <a:t>Retail POS software</a:t>
            </a:r>
            <a:endParaRPr b="1" sz="1400"/>
          </a:p>
          <a:p>
            <a:pPr indent="-317500" lvl="0" marL="457200" rtl="0" algn="l">
              <a:lnSpc>
                <a:spcPct val="150000"/>
              </a:lnSpc>
              <a:spcBef>
                <a:spcPts val="0"/>
              </a:spcBef>
              <a:spcAft>
                <a:spcPts val="0"/>
              </a:spcAft>
              <a:buSzPts val="1400"/>
              <a:buChar char="-"/>
            </a:pPr>
            <a:r>
              <a:rPr lang="en" sz="1400"/>
              <a:t>Choosing the Right Retail POS Software for Your Business Size and Type</a:t>
            </a:r>
            <a:endParaRPr sz="1400"/>
          </a:p>
          <a:p>
            <a:pPr indent="0" lvl="0" marL="0" rtl="0" algn="l">
              <a:lnSpc>
                <a:spcPct val="150000"/>
              </a:lnSpc>
              <a:spcBef>
                <a:spcPts val="0"/>
              </a:spcBef>
              <a:spcAft>
                <a:spcPts val="0"/>
              </a:spcAft>
              <a:buNone/>
            </a:pPr>
            <a:r>
              <a:rPr b="1" lang="en" sz="1400"/>
              <a:t>Point of sale software</a:t>
            </a:r>
            <a:endParaRPr b="1" sz="1400"/>
          </a:p>
          <a:p>
            <a:pPr indent="-317500" lvl="0" marL="457200" rtl="0" algn="l">
              <a:lnSpc>
                <a:spcPct val="150000"/>
              </a:lnSpc>
              <a:spcBef>
                <a:spcPts val="0"/>
              </a:spcBef>
              <a:spcAft>
                <a:spcPts val="0"/>
              </a:spcAft>
              <a:buSzPts val="1400"/>
              <a:buChar char="-"/>
            </a:pPr>
            <a:r>
              <a:rPr lang="en" sz="1400"/>
              <a:t>Integrating Point of Sale Software with E-Commerce Platforms</a:t>
            </a:r>
            <a:endParaRPr sz="1400"/>
          </a:p>
          <a:p>
            <a:pPr indent="0" lvl="0" marL="0" rtl="0" algn="l">
              <a:lnSpc>
                <a:spcPct val="150000"/>
              </a:lnSpc>
              <a:spcBef>
                <a:spcPts val="0"/>
              </a:spcBef>
              <a:spcAft>
                <a:spcPts val="0"/>
              </a:spcAft>
              <a:buNone/>
            </a:pPr>
            <a:r>
              <a:rPr b="1" lang="en" sz="1400"/>
              <a:t>Restaurant Management Software</a:t>
            </a:r>
            <a:endParaRPr b="1" sz="1400"/>
          </a:p>
          <a:p>
            <a:pPr indent="-317500" lvl="0" marL="457200" rtl="0" algn="l">
              <a:lnSpc>
                <a:spcPct val="150000"/>
              </a:lnSpc>
              <a:spcBef>
                <a:spcPts val="0"/>
              </a:spcBef>
              <a:spcAft>
                <a:spcPts val="0"/>
              </a:spcAft>
              <a:buSzPts val="1400"/>
              <a:buChar char="-"/>
            </a:pPr>
            <a:r>
              <a:rPr lang="en" sz="1400"/>
              <a:t>The Future of Restaurant Management Software: Trends and Innovations to Watch</a:t>
            </a:r>
            <a:endParaRPr sz="1400"/>
          </a:p>
          <a:p>
            <a:pPr indent="0" lvl="0" marL="0" rtl="0" algn="l">
              <a:lnSpc>
                <a:spcPct val="150000"/>
              </a:lnSpc>
              <a:spcBef>
                <a:spcPts val="0"/>
              </a:spcBef>
              <a:spcAft>
                <a:spcPts val="1200"/>
              </a:spcAft>
              <a:buNone/>
            </a:pPr>
            <a:r>
              <a:t/>
            </a:r>
            <a:endParaRPr sz="14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3000">
                <a:solidFill>
                  <a:srgbClr val="AF7B51"/>
                </a:solidFill>
                <a:latin typeface="Nunito"/>
                <a:ea typeface="Nunito"/>
                <a:cs typeface="Nunito"/>
                <a:sym typeface="Nunito"/>
              </a:rPr>
              <a:t>Task 6 - Off-Page SEO</a:t>
            </a:r>
            <a:endParaRPr/>
          </a:p>
        </p:txBody>
      </p:sp>
      <p:sp>
        <p:nvSpPr>
          <p:cNvPr id="121" name="Google Shape;121;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150000"/>
              </a:lnSpc>
              <a:spcBef>
                <a:spcPts val="0"/>
              </a:spcBef>
              <a:spcAft>
                <a:spcPts val="0"/>
              </a:spcAft>
              <a:buClr>
                <a:schemeClr val="dk1"/>
              </a:buClr>
              <a:buSzPts val="1100"/>
              <a:buFont typeface="Arial"/>
              <a:buNone/>
            </a:pPr>
            <a:r>
              <a:rPr b="1" lang="en" sz="1400">
                <a:solidFill>
                  <a:schemeClr val="dk1"/>
                </a:solidFill>
              </a:rPr>
              <a:t>Six off-page SEO strategies for GoFrugal website:</a:t>
            </a:r>
            <a:endParaRPr sz="1400">
              <a:solidFill>
                <a:schemeClr val="dk1"/>
              </a:solidFill>
            </a:endParaRPr>
          </a:p>
          <a:p>
            <a:pPr indent="0" lvl="0" marL="0" rtl="0" algn="l">
              <a:lnSpc>
                <a:spcPct val="150000"/>
              </a:lnSpc>
              <a:spcBef>
                <a:spcPts val="1200"/>
              </a:spcBef>
              <a:spcAft>
                <a:spcPts val="0"/>
              </a:spcAft>
              <a:buClr>
                <a:schemeClr val="dk1"/>
              </a:buClr>
              <a:buSzPts val="1100"/>
              <a:buFont typeface="Arial"/>
              <a:buNone/>
            </a:pPr>
            <a:r>
              <a:rPr lang="en" sz="1400">
                <a:solidFill>
                  <a:schemeClr val="dk1"/>
                </a:solidFill>
              </a:rPr>
              <a:t>1. </a:t>
            </a:r>
            <a:r>
              <a:rPr b="1" lang="en" sz="1400">
                <a:solidFill>
                  <a:schemeClr val="dk1"/>
                </a:solidFill>
              </a:rPr>
              <a:t>Build Quality Backlinks:</a:t>
            </a:r>
            <a:r>
              <a:rPr lang="en" sz="1400">
                <a:solidFill>
                  <a:schemeClr val="dk1"/>
                </a:solidFill>
              </a:rPr>
              <a:t> Secure links from industry blogs and tech sites.</a:t>
            </a:r>
            <a:endParaRPr sz="1400">
              <a:solidFill>
                <a:schemeClr val="dk1"/>
              </a:solidFill>
            </a:endParaRPr>
          </a:p>
          <a:p>
            <a:pPr indent="0" lvl="0" marL="0" rtl="0" algn="l">
              <a:lnSpc>
                <a:spcPct val="150000"/>
              </a:lnSpc>
              <a:spcBef>
                <a:spcPts val="1200"/>
              </a:spcBef>
              <a:spcAft>
                <a:spcPts val="0"/>
              </a:spcAft>
              <a:buClr>
                <a:schemeClr val="dk1"/>
              </a:buClr>
              <a:buSzPts val="1100"/>
              <a:buFont typeface="Arial"/>
              <a:buNone/>
            </a:pPr>
            <a:r>
              <a:rPr lang="en" sz="1400">
                <a:solidFill>
                  <a:schemeClr val="dk1"/>
                </a:solidFill>
              </a:rPr>
              <a:t>2. </a:t>
            </a:r>
            <a:r>
              <a:rPr b="1" lang="en" sz="1400">
                <a:solidFill>
                  <a:schemeClr val="dk1"/>
                </a:solidFill>
              </a:rPr>
              <a:t>Partner with Influencers:</a:t>
            </a:r>
            <a:r>
              <a:rPr lang="en" sz="1400">
                <a:solidFill>
                  <a:schemeClr val="dk1"/>
                </a:solidFill>
              </a:rPr>
              <a:t> Get reviews or mentions from industry influencers.</a:t>
            </a:r>
            <a:endParaRPr sz="1400">
              <a:solidFill>
                <a:schemeClr val="dk1"/>
              </a:solidFill>
            </a:endParaRPr>
          </a:p>
          <a:p>
            <a:pPr indent="0" lvl="0" marL="0" rtl="0" algn="l">
              <a:lnSpc>
                <a:spcPct val="150000"/>
              </a:lnSpc>
              <a:spcBef>
                <a:spcPts val="1200"/>
              </a:spcBef>
              <a:spcAft>
                <a:spcPts val="0"/>
              </a:spcAft>
              <a:buClr>
                <a:schemeClr val="dk1"/>
              </a:buClr>
              <a:buSzPts val="1100"/>
              <a:buFont typeface="Arial"/>
              <a:buNone/>
            </a:pPr>
            <a:r>
              <a:rPr lang="en" sz="1400">
                <a:solidFill>
                  <a:schemeClr val="dk1"/>
                </a:solidFill>
              </a:rPr>
              <a:t>3. </a:t>
            </a:r>
            <a:r>
              <a:rPr b="1" lang="en" sz="1400">
                <a:solidFill>
                  <a:schemeClr val="dk1"/>
                </a:solidFill>
              </a:rPr>
              <a:t>Optimize Local Listings: </a:t>
            </a:r>
            <a:r>
              <a:rPr lang="en" sz="1400">
                <a:solidFill>
                  <a:schemeClr val="dk1"/>
                </a:solidFill>
              </a:rPr>
              <a:t>Ensure consistent NAP info and list on relevant directories.</a:t>
            </a:r>
            <a:endParaRPr sz="1400">
              <a:solidFill>
                <a:schemeClr val="dk1"/>
              </a:solidFill>
            </a:endParaRPr>
          </a:p>
          <a:p>
            <a:pPr indent="0" lvl="0" marL="0" rtl="0" algn="l">
              <a:lnSpc>
                <a:spcPct val="150000"/>
              </a:lnSpc>
              <a:spcBef>
                <a:spcPts val="1200"/>
              </a:spcBef>
              <a:spcAft>
                <a:spcPts val="0"/>
              </a:spcAft>
              <a:buClr>
                <a:schemeClr val="dk1"/>
              </a:buClr>
              <a:buSzPts val="1100"/>
              <a:buFont typeface="Arial"/>
              <a:buNone/>
            </a:pPr>
            <a:r>
              <a:rPr lang="en" sz="1400">
                <a:solidFill>
                  <a:schemeClr val="dk1"/>
                </a:solidFill>
              </a:rPr>
              <a:t>4. </a:t>
            </a:r>
            <a:r>
              <a:rPr b="1" lang="en" sz="1400">
                <a:solidFill>
                  <a:schemeClr val="dk1"/>
                </a:solidFill>
              </a:rPr>
              <a:t>Engage in Forums:</a:t>
            </a:r>
            <a:r>
              <a:rPr lang="en" sz="1400">
                <a:solidFill>
                  <a:schemeClr val="dk1"/>
                </a:solidFill>
              </a:rPr>
              <a:t> Participate in industry forums and provide helpful insights.</a:t>
            </a:r>
            <a:endParaRPr sz="1400">
              <a:solidFill>
                <a:schemeClr val="dk1"/>
              </a:solidFill>
            </a:endParaRPr>
          </a:p>
          <a:p>
            <a:pPr indent="0" lvl="0" marL="0" rtl="0" algn="l">
              <a:lnSpc>
                <a:spcPct val="150000"/>
              </a:lnSpc>
              <a:spcBef>
                <a:spcPts val="1200"/>
              </a:spcBef>
              <a:spcAft>
                <a:spcPts val="0"/>
              </a:spcAft>
              <a:buClr>
                <a:schemeClr val="dk1"/>
              </a:buClr>
              <a:buSzPts val="1100"/>
              <a:buFont typeface="Arial"/>
              <a:buNone/>
            </a:pPr>
            <a:r>
              <a:rPr lang="en" sz="1400">
                <a:solidFill>
                  <a:schemeClr val="dk1"/>
                </a:solidFill>
              </a:rPr>
              <a:t>5. </a:t>
            </a:r>
            <a:r>
              <a:rPr b="1" lang="en" sz="1400">
                <a:solidFill>
                  <a:schemeClr val="dk1"/>
                </a:solidFill>
              </a:rPr>
              <a:t>Create Shareable Content:</a:t>
            </a:r>
            <a:r>
              <a:rPr lang="en" sz="1400">
                <a:solidFill>
                  <a:schemeClr val="dk1"/>
                </a:solidFill>
              </a:rPr>
              <a:t> Develop and promote infographics or reports.</a:t>
            </a:r>
            <a:endParaRPr sz="1400">
              <a:solidFill>
                <a:schemeClr val="dk1"/>
              </a:solidFill>
            </a:endParaRPr>
          </a:p>
          <a:p>
            <a:pPr indent="0" lvl="0" marL="0" rtl="0" algn="l">
              <a:lnSpc>
                <a:spcPct val="150000"/>
              </a:lnSpc>
              <a:spcBef>
                <a:spcPts val="1200"/>
              </a:spcBef>
              <a:spcAft>
                <a:spcPts val="1200"/>
              </a:spcAft>
              <a:buNone/>
            </a:pPr>
            <a:r>
              <a:rPr lang="en" sz="1400">
                <a:solidFill>
                  <a:schemeClr val="dk1"/>
                </a:solidFill>
              </a:rPr>
              <a:t>6. </a:t>
            </a:r>
            <a:r>
              <a:rPr b="1" lang="en" sz="1400">
                <a:solidFill>
                  <a:schemeClr val="dk1"/>
                </a:solidFill>
              </a:rPr>
              <a:t>Host Webinars:</a:t>
            </a:r>
            <a:r>
              <a:rPr lang="en" sz="1400">
                <a:solidFill>
                  <a:schemeClr val="dk1"/>
                </a:solidFill>
              </a:rPr>
              <a:t> Organize events on relevant topics to attract backlinks and traffic.</a:t>
            </a:r>
            <a:endParaRPr sz="140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3000">
                <a:solidFill>
                  <a:srgbClr val="AF7B51"/>
                </a:solidFill>
                <a:latin typeface="Nunito"/>
                <a:ea typeface="Nunito"/>
                <a:cs typeface="Nunito"/>
                <a:sym typeface="Nunito"/>
              </a:rPr>
              <a:t>Project Deliverables:</a:t>
            </a:r>
            <a:endParaRPr sz="3000">
              <a:solidFill>
                <a:srgbClr val="AF7B51"/>
              </a:solidFill>
              <a:latin typeface="Nunito"/>
              <a:ea typeface="Nunito"/>
              <a:cs typeface="Nunito"/>
              <a:sym typeface="Nunito"/>
            </a:endParaRPr>
          </a:p>
        </p:txBody>
      </p:sp>
      <p:sp>
        <p:nvSpPr>
          <p:cNvPr id="127" name="Google Shape;127;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Clr>
                <a:schemeClr val="dk1"/>
              </a:buClr>
              <a:buSzPts val="1100"/>
              <a:buFont typeface="Arial"/>
              <a:buNone/>
            </a:pPr>
            <a:r>
              <a:rPr b="1" lang="en" sz="1400">
                <a:solidFill>
                  <a:schemeClr val="dk1"/>
                </a:solidFill>
              </a:rPr>
              <a:t>SEO Audit Report:</a:t>
            </a:r>
            <a:endParaRPr b="1" sz="1400">
              <a:solidFill>
                <a:schemeClr val="dk1"/>
              </a:solidFill>
            </a:endParaRPr>
          </a:p>
          <a:p>
            <a:pPr indent="-317500" lvl="0" marL="457200" rtl="0" algn="l">
              <a:lnSpc>
                <a:spcPct val="115000"/>
              </a:lnSpc>
              <a:spcBef>
                <a:spcPts val="1200"/>
              </a:spcBef>
              <a:spcAft>
                <a:spcPts val="0"/>
              </a:spcAft>
              <a:buClr>
                <a:schemeClr val="dk1"/>
              </a:buClr>
              <a:buSzPts val="1400"/>
              <a:buChar char="●"/>
            </a:pPr>
            <a:r>
              <a:rPr lang="en" sz="1400">
                <a:solidFill>
                  <a:schemeClr val="dk1"/>
                </a:solidFill>
              </a:rPr>
              <a:t>Mobile performance: 72%, Desktop: 88%</a:t>
            </a:r>
            <a:endParaRPr sz="1400">
              <a:solidFill>
                <a:schemeClr val="dk1"/>
              </a:solidFill>
            </a:endParaRPr>
          </a:p>
          <a:p>
            <a:pPr indent="-317500" lvl="0" marL="457200" rtl="0" algn="l">
              <a:lnSpc>
                <a:spcPct val="115000"/>
              </a:lnSpc>
              <a:spcBef>
                <a:spcPts val="0"/>
              </a:spcBef>
              <a:spcAft>
                <a:spcPts val="0"/>
              </a:spcAft>
              <a:buClr>
                <a:schemeClr val="dk1"/>
              </a:buClr>
              <a:buSzPts val="1400"/>
              <a:buChar char="●"/>
            </a:pPr>
            <a:r>
              <a:rPr lang="en" sz="1400">
                <a:solidFill>
                  <a:schemeClr val="dk1"/>
                </a:solidFill>
              </a:rPr>
              <a:t>Strengths: Optimized title, fast server, HTTPS</a:t>
            </a:r>
            <a:endParaRPr sz="1400">
              <a:solidFill>
                <a:schemeClr val="dk1"/>
              </a:solidFill>
            </a:endParaRPr>
          </a:p>
          <a:p>
            <a:pPr indent="-317500" lvl="0" marL="457200" rtl="0" algn="l">
              <a:lnSpc>
                <a:spcPct val="115000"/>
              </a:lnSpc>
              <a:spcBef>
                <a:spcPts val="0"/>
              </a:spcBef>
              <a:spcAft>
                <a:spcPts val="0"/>
              </a:spcAft>
              <a:buClr>
                <a:schemeClr val="dk1"/>
              </a:buClr>
              <a:buSzPts val="1400"/>
              <a:buChar char="●"/>
            </a:pPr>
            <a:r>
              <a:rPr lang="en" sz="1400">
                <a:solidFill>
                  <a:schemeClr val="dk1"/>
                </a:solidFill>
              </a:rPr>
              <a:t>Weaknesses: Long meta descriptions, missing image alt text</a:t>
            </a:r>
            <a:endParaRPr sz="14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sz="1400">
                <a:solidFill>
                  <a:schemeClr val="dk1"/>
                </a:solidFill>
              </a:rPr>
              <a:t>Keyword Research:</a:t>
            </a:r>
            <a:endParaRPr b="1" sz="1400">
              <a:solidFill>
                <a:schemeClr val="dk1"/>
              </a:solidFill>
            </a:endParaRPr>
          </a:p>
          <a:p>
            <a:pPr indent="-317500" lvl="0" marL="457200" rtl="0" algn="l">
              <a:lnSpc>
                <a:spcPct val="115000"/>
              </a:lnSpc>
              <a:spcBef>
                <a:spcPts val="1200"/>
              </a:spcBef>
              <a:spcAft>
                <a:spcPts val="0"/>
              </a:spcAft>
              <a:buClr>
                <a:schemeClr val="dk1"/>
              </a:buClr>
              <a:buSzPts val="1400"/>
              <a:buChar char="●"/>
            </a:pPr>
            <a:r>
              <a:rPr lang="en" sz="1400">
                <a:solidFill>
                  <a:schemeClr val="dk1"/>
                </a:solidFill>
              </a:rPr>
              <a:t>Key terms: Restaurant Management System, Distribution Management Software, Retail POS Software, Point of Sale Software</a:t>
            </a:r>
            <a:endParaRPr sz="14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sz="1400">
                <a:solidFill>
                  <a:schemeClr val="dk1"/>
                </a:solidFill>
              </a:rPr>
              <a:t>On-Page SEO Findings:</a:t>
            </a:r>
            <a:endParaRPr b="1" sz="1400">
              <a:solidFill>
                <a:schemeClr val="dk1"/>
              </a:solidFill>
            </a:endParaRPr>
          </a:p>
          <a:p>
            <a:pPr indent="-317500" lvl="0" marL="457200" rtl="0" algn="l">
              <a:lnSpc>
                <a:spcPct val="115000"/>
              </a:lnSpc>
              <a:spcBef>
                <a:spcPts val="1200"/>
              </a:spcBef>
              <a:spcAft>
                <a:spcPts val="0"/>
              </a:spcAft>
              <a:buClr>
                <a:schemeClr val="dk1"/>
              </a:buClr>
              <a:buSzPts val="1400"/>
              <a:buChar char="●"/>
            </a:pPr>
            <a:r>
              <a:rPr lang="en" sz="1400">
                <a:solidFill>
                  <a:schemeClr val="dk1"/>
                </a:solidFill>
              </a:rPr>
              <a:t>Title and meta descriptions generally well-optimized</a:t>
            </a:r>
            <a:endParaRPr sz="1400">
              <a:solidFill>
                <a:schemeClr val="dk1"/>
              </a:solidFill>
            </a:endParaRPr>
          </a:p>
          <a:p>
            <a:pPr indent="-317500" lvl="0" marL="457200" rtl="0" algn="l">
              <a:lnSpc>
                <a:spcPct val="115000"/>
              </a:lnSpc>
              <a:spcBef>
                <a:spcPts val="0"/>
              </a:spcBef>
              <a:spcAft>
                <a:spcPts val="0"/>
              </a:spcAft>
              <a:buClr>
                <a:schemeClr val="dk1"/>
              </a:buClr>
              <a:buSzPts val="1400"/>
              <a:buChar char="●"/>
            </a:pPr>
            <a:r>
              <a:rPr lang="en" sz="1400">
                <a:solidFill>
                  <a:schemeClr val="dk1"/>
                </a:solidFill>
              </a:rPr>
              <a:t>HTML tags and keyword usage need improvement</a:t>
            </a:r>
            <a:endParaRPr sz="14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3000">
                <a:solidFill>
                  <a:srgbClr val="AF7B51"/>
                </a:solidFill>
                <a:latin typeface="Nunito"/>
                <a:ea typeface="Nunito"/>
                <a:cs typeface="Nunito"/>
                <a:sym typeface="Nunito"/>
              </a:rPr>
              <a:t>Project Deliverables:</a:t>
            </a:r>
            <a:endParaRPr/>
          </a:p>
        </p:txBody>
      </p:sp>
      <p:sp>
        <p:nvSpPr>
          <p:cNvPr id="133" name="Google Shape;133;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sz="1400">
                <a:solidFill>
                  <a:schemeClr val="dk1"/>
                </a:solidFill>
              </a:rPr>
              <a:t>Technical SEO:</a:t>
            </a:r>
            <a:endParaRPr b="1" sz="1400">
              <a:solidFill>
                <a:schemeClr val="dk1"/>
              </a:solidFill>
            </a:endParaRPr>
          </a:p>
          <a:p>
            <a:pPr indent="-317500" lvl="0" marL="457200" rtl="0" algn="l">
              <a:spcBef>
                <a:spcPts val="1200"/>
              </a:spcBef>
              <a:spcAft>
                <a:spcPts val="0"/>
              </a:spcAft>
              <a:buClr>
                <a:schemeClr val="dk1"/>
              </a:buClr>
              <a:buSzPts val="1400"/>
              <a:buChar char="●"/>
            </a:pPr>
            <a:r>
              <a:rPr lang="en" sz="1400">
                <a:solidFill>
                  <a:schemeClr val="dk1"/>
                </a:solidFill>
              </a:rPr>
              <a:t>Load times: Home (877 ms), Restaurant (829 ms), Retail (2.20s), Distribution (959 ms)</a:t>
            </a:r>
            <a:endParaRPr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Recommendations: Compress images, reduce HTTP requests, enable caching, use CDN</a:t>
            </a:r>
            <a:endParaRPr sz="1400">
              <a:solidFill>
                <a:schemeClr val="dk1"/>
              </a:solidFill>
            </a:endParaRPr>
          </a:p>
          <a:p>
            <a:pPr indent="0" lvl="0" marL="0" rtl="0" algn="l">
              <a:spcBef>
                <a:spcPts val="1200"/>
              </a:spcBef>
              <a:spcAft>
                <a:spcPts val="0"/>
              </a:spcAft>
              <a:buClr>
                <a:schemeClr val="dk1"/>
              </a:buClr>
              <a:buSzPts val="1100"/>
              <a:buFont typeface="Arial"/>
              <a:buNone/>
            </a:pPr>
            <a:r>
              <a:rPr b="1" lang="en" sz="1400">
                <a:solidFill>
                  <a:schemeClr val="dk1"/>
                </a:solidFill>
              </a:rPr>
              <a:t>Content &amp; Off-Page Strategy:</a:t>
            </a:r>
            <a:endParaRPr b="1" sz="1400">
              <a:solidFill>
                <a:schemeClr val="dk1"/>
              </a:solidFill>
            </a:endParaRPr>
          </a:p>
          <a:p>
            <a:pPr indent="-317500" lvl="0" marL="457200" rtl="0" algn="l">
              <a:spcBef>
                <a:spcPts val="1200"/>
              </a:spcBef>
              <a:spcAft>
                <a:spcPts val="0"/>
              </a:spcAft>
              <a:buClr>
                <a:schemeClr val="dk1"/>
              </a:buClr>
              <a:buSzPts val="1400"/>
              <a:buChar char="●"/>
            </a:pPr>
            <a:r>
              <a:rPr lang="en" sz="1400">
                <a:solidFill>
                  <a:schemeClr val="dk1"/>
                </a:solidFill>
              </a:rPr>
              <a:t>Content topics: Customer experience, ERP integration, POS software selection, future trends</a:t>
            </a:r>
            <a:endParaRPr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Off-page tactics: Build backlinks, partner with influencers, optimize local listings, engage in forums</a:t>
            </a:r>
            <a:endParaRPr sz="14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3000">
                <a:solidFill>
                  <a:srgbClr val="AF7B51"/>
                </a:solidFill>
                <a:latin typeface="Nunito"/>
                <a:ea typeface="Nunito"/>
                <a:cs typeface="Nunito"/>
                <a:sym typeface="Nunito"/>
              </a:rPr>
              <a:t>Conclusion</a:t>
            </a:r>
            <a:endParaRPr/>
          </a:p>
        </p:txBody>
      </p:sp>
      <p:sp>
        <p:nvSpPr>
          <p:cNvPr id="139" name="Google Shape;139;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150000"/>
              </a:lnSpc>
              <a:spcBef>
                <a:spcPts val="0"/>
              </a:spcBef>
              <a:spcAft>
                <a:spcPts val="1200"/>
              </a:spcAft>
              <a:buNone/>
            </a:pPr>
            <a:r>
              <a:rPr lang="en" sz="1400">
                <a:solidFill>
                  <a:schemeClr val="dk1"/>
                </a:solidFill>
              </a:rPr>
              <a:t>To enhance </a:t>
            </a:r>
            <a:r>
              <a:rPr lang="en" sz="1400">
                <a:solidFill>
                  <a:schemeClr val="dk1"/>
                </a:solidFill>
              </a:rPr>
              <a:t>GoFrugal</a:t>
            </a:r>
            <a:r>
              <a:rPr lang="en" sz="1400">
                <a:solidFill>
                  <a:schemeClr val="dk1"/>
                </a:solidFill>
              </a:rPr>
              <a:t> online presence, address identified weaknesses in meta descriptions, image attributes, and HTML tags. Implement technical SEO best practices to improve page load times and leverage off-page SEO strategies to boost domain authority and traffic.</a:t>
            </a:r>
            <a:endParaRPr sz="14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